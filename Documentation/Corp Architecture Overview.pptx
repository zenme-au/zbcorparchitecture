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8" r:id="rId4"/>
    <p:sldId id="259" r:id="rId5"/>
    <p:sldId id="260"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634" autoAdjust="0"/>
  </p:normalViewPr>
  <p:slideViewPr>
    <p:cSldViewPr snapToGrid="0">
      <p:cViewPr>
        <p:scale>
          <a:sx n="125" d="100"/>
          <a:sy n="125" d="100"/>
        </p:scale>
        <p:origin x="-264"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BD48F-717A-8C77-D6DE-3674A5D53A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19FB8AAB-899D-8820-C803-022AAF576A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D3AF8CB1-58A0-DF05-7441-B00CF26AAF1D}"/>
              </a:ext>
            </a:extLst>
          </p:cNvPr>
          <p:cNvSpPr>
            <a:spLocks noGrp="1"/>
          </p:cNvSpPr>
          <p:nvPr>
            <p:ph type="dt" sz="half" idx="10"/>
          </p:nvPr>
        </p:nvSpPr>
        <p:spPr/>
        <p:txBody>
          <a:bodyPr/>
          <a:lstStyle/>
          <a:p>
            <a:fld id="{08306F49-376E-45A5-AD65-FD4D759E20F3}" type="datetimeFigureOut">
              <a:rPr lang="en-AU" smtClean="0"/>
              <a:t>17/08/2026</a:t>
            </a:fld>
            <a:endParaRPr lang="en-AU"/>
          </a:p>
        </p:txBody>
      </p:sp>
      <p:sp>
        <p:nvSpPr>
          <p:cNvPr id="5" name="Footer Placeholder 4">
            <a:extLst>
              <a:ext uri="{FF2B5EF4-FFF2-40B4-BE49-F238E27FC236}">
                <a16:creationId xmlns:a16="http://schemas.microsoft.com/office/drawing/2014/main" id="{9B14131F-3B67-E700-D933-3924A46EC67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0158349-74A0-2BD3-9605-5DB392A756EC}"/>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731239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AF81C-BA21-5F9C-A19B-26B57DA20F8A}"/>
              </a:ext>
            </a:extLst>
          </p:cNvPr>
          <p:cNvSpPr>
            <a:spLocks noGrp="1"/>
          </p:cNvSpPr>
          <p:nvPr>
            <p:ph type="title"/>
          </p:nvPr>
        </p:nvSpPr>
        <p:spPr>
          <a:xfrm>
            <a:off x="348343" y="136525"/>
            <a:ext cx="11355977" cy="720000"/>
          </a:xfrm>
        </p:spPr>
        <p:txBody>
          <a:bodyPr/>
          <a:lstStyle/>
          <a:p>
            <a:r>
              <a:rPr lang="en-US" dirty="0"/>
              <a:t>Click to edit Master title style</a:t>
            </a:r>
            <a:endParaRPr lang="en-AU" dirty="0"/>
          </a:p>
        </p:txBody>
      </p:sp>
      <p:sp>
        <p:nvSpPr>
          <p:cNvPr id="3" name="Content Placeholder 2">
            <a:extLst>
              <a:ext uri="{FF2B5EF4-FFF2-40B4-BE49-F238E27FC236}">
                <a16:creationId xmlns:a16="http://schemas.microsoft.com/office/drawing/2014/main" id="{70EC9609-3290-B4AA-75E4-F7E53413F051}"/>
              </a:ext>
            </a:extLst>
          </p:cNvPr>
          <p:cNvSpPr>
            <a:spLocks noGrp="1"/>
          </p:cNvSpPr>
          <p:nvPr>
            <p:ph idx="1"/>
          </p:nvPr>
        </p:nvSpPr>
        <p:spPr>
          <a:xfrm>
            <a:off x="348343" y="1034042"/>
            <a:ext cx="11355977" cy="5142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12BC541-7E96-B6E9-461F-15113207DCED}"/>
              </a:ext>
            </a:extLst>
          </p:cNvPr>
          <p:cNvSpPr>
            <a:spLocks noGrp="1"/>
          </p:cNvSpPr>
          <p:nvPr>
            <p:ph type="dt" sz="half" idx="10"/>
          </p:nvPr>
        </p:nvSpPr>
        <p:spPr/>
        <p:txBody>
          <a:bodyPr/>
          <a:lstStyle/>
          <a:p>
            <a:fld id="{08306F49-376E-45A5-AD65-FD4D759E20F3}" type="datetimeFigureOut">
              <a:rPr lang="en-AU" smtClean="0"/>
              <a:t>17/08/2026</a:t>
            </a:fld>
            <a:endParaRPr lang="en-AU"/>
          </a:p>
        </p:txBody>
      </p:sp>
      <p:sp>
        <p:nvSpPr>
          <p:cNvPr id="5" name="Footer Placeholder 4">
            <a:extLst>
              <a:ext uri="{FF2B5EF4-FFF2-40B4-BE49-F238E27FC236}">
                <a16:creationId xmlns:a16="http://schemas.microsoft.com/office/drawing/2014/main" id="{341011DD-11DB-BF00-5D0F-8766A0C36C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75AED40-6C7A-D88F-DB01-0858A3F97E71}"/>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119882233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4C550-71A0-1F35-DB57-ED5AE8A470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8BBF51A6-8034-35B4-05B5-2E1A220A07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05E6C2-B3A5-EBFD-8AC5-6B4E3E2A9B99}"/>
              </a:ext>
            </a:extLst>
          </p:cNvPr>
          <p:cNvSpPr>
            <a:spLocks noGrp="1"/>
          </p:cNvSpPr>
          <p:nvPr>
            <p:ph type="dt" sz="half" idx="10"/>
          </p:nvPr>
        </p:nvSpPr>
        <p:spPr/>
        <p:txBody>
          <a:bodyPr/>
          <a:lstStyle/>
          <a:p>
            <a:fld id="{08306F49-376E-45A5-AD65-FD4D759E20F3}" type="datetimeFigureOut">
              <a:rPr lang="en-AU" smtClean="0"/>
              <a:t>17/08/2026</a:t>
            </a:fld>
            <a:endParaRPr lang="en-AU"/>
          </a:p>
        </p:txBody>
      </p:sp>
      <p:sp>
        <p:nvSpPr>
          <p:cNvPr id="5" name="Footer Placeholder 4">
            <a:extLst>
              <a:ext uri="{FF2B5EF4-FFF2-40B4-BE49-F238E27FC236}">
                <a16:creationId xmlns:a16="http://schemas.microsoft.com/office/drawing/2014/main" id="{9D56EFB8-CF71-2A87-F3FF-D781115D563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24626F0-95B5-027F-4E71-BA25C1BA1D9C}"/>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3954741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FB220-0F88-18FD-FA69-6DA558D9035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1CC90C6-9A21-E0DC-D444-1B12F5CE8B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EE1245CC-2689-1699-A3BC-1677BE33AA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F596E6B-FB1C-973F-40F2-E642C1E546B0}"/>
              </a:ext>
            </a:extLst>
          </p:cNvPr>
          <p:cNvSpPr>
            <a:spLocks noGrp="1"/>
          </p:cNvSpPr>
          <p:nvPr>
            <p:ph type="dt" sz="half" idx="10"/>
          </p:nvPr>
        </p:nvSpPr>
        <p:spPr/>
        <p:txBody>
          <a:bodyPr/>
          <a:lstStyle/>
          <a:p>
            <a:fld id="{08306F49-376E-45A5-AD65-FD4D759E20F3}" type="datetimeFigureOut">
              <a:rPr lang="en-AU" smtClean="0"/>
              <a:t>17/08/2026</a:t>
            </a:fld>
            <a:endParaRPr lang="en-AU"/>
          </a:p>
        </p:txBody>
      </p:sp>
      <p:sp>
        <p:nvSpPr>
          <p:cNvPr id="6" name="Footer Placeholder 5">
            <a:extLst>
              <a:ext uri="{FF2B5EF4-FFF2-40B4-BE49-F238E27FC236}">
                <a16:creationId xmlns:a16="http://schemas.microsoft.com/office/drawing/2014/main" id="{4BB1B24A-EF17-FE94-13AA-CC37CDD8A51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0AB5005-CA2F-CB0A-D268-F737E2ABAE7C}"/>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4167803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1953-2567-DCB1-B84A-2E0573E3F51C}"/>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EBE741C-4977-866A-BEA7-C921435DCF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C85656-F1F0-A806-846C-4EF1FE739E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76A3B73B-9C8E-F005-B4E6-B95B1972BB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F328D4-E9D0-C513-3427-04A4E7D1F2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22A4C5D8-D4C2-8F38-D91B-74760B91AFDD}"/>
              </a:ext>
            </a:extLst>
          </p:cNvPr>
          <p:cNvSpPr>
            <a:spLocks noGrp="1"/>
          </p:cNvSpPr>
          <p:nvPr>
            <p:ph type="dt" sz="half" idx="10"/>
          </p:nvPr>
        </p:nvSpPr>
        <p:spPr/>
        <p:txBody>
          <a:bodyPr/>
          <a:lstStyle/>
          <a:p>
            <a:fld id="{08306F49-376E-45A5-AD65-FD4D759E20F3}" type="datetimeFigureOut">
              <a:rPr lang="en-AU" smtClean="0"/>
              <a:t>17/08/2026</a:t>
            </a:fld>
            <a:endParaRPr lang="en-AU"/>
          </a:p>
        </p:txBody>
      </p:sp>
      <p:sp>
        <p:nvSpPr>
          <p:cNvPr id="8" name="Footer Placeholder 7">
            <a:extLst>
              <a:ext uri="{FF2B5EF4-FFF2-40B4-BE49-F238E27FC236}">
                <a16:creationId xmlns:a16="http://schemas.microsoft.com/office/drawing/2014/main" id="{6A6FB4CB-A681-2392-05B0-3420D5661E8A}"/>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7D9D7972-031D-7811-22E4-A79CE3FC8033}"/>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1749805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68CEA-9C60-C06B-F72F-76D7C636DBF0}"/>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C6F6A9B3-33F5-4B79-93F4-DFA5A3552104}"/>
              </a:ext>
            </a:extLst>
          </p:cNvPr>
          <p:cNvSpPr>
            <a:spLocks noGrp="1"/>
          </p:cNvSpPr>
          <p:nvPr>
            <p:ph type="dt" sz="half" idx="10"/>
          </p:nvPr>
        </p:nvSpPr>
        <p:spPr/>
        <p:txBody>
          <a:bodyPr/>
          <a:lstStyle/>
          <a:p>
            <a:fld id="{08306F49-376E-45A5-AD65-FD4D759E20F3}" type="datetimeFigureOut">
              <a:rPr lang="en-AU" smtClean="0"/>
              <a:t>17/08/2026</a:t>
            </a:fld>
            <a:endParaRPr lang="en-AU"/>
          </a:p>
        </p:txBody>
      </p:sp>
      <p:sp>
        <p:nvSpPr>
          <p:cNvPr id="4" name="Footer Placeholder 3">
            <a:extLst>
              <a:ext uri="{FF2B5EF4-FFF2-40B4-BE49-F238E27FC236}">
                <a16:creationId xmlns:a16="http://schemas.microsoft.com/office/drawing/2014/main" id="{A067FECA-8A52-BEF8-52B8-5A7B0FF87130}"/>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093A9B61-3515-38BC-BA58-6CA63E3A41E6}"/>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2332238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1FDCF8-CD64-07FF-918E-02D8B111A6AB}"/>
              </a:ext>
            </a:extLst>
          </p:cNvPr>
          <p:cNvSpPr>
            <a:spLocks noGrp="1"/>
          </p:cNvSpPr>
          <p:nvPr>
            <p:ph type="dt" sz="half" idx="10"/>
          </p:nvPr>
        </p:nvSpPr>
        <p:spPr/>
        <p:txBody>
          <a:bodyPr/>
          <a:lstStyle/>
          <a:p>
            <a:fld id="{08306F49-376E-45A5-AD65-FD4D759E20F3}" type="datetimeFigureOut">
              <a:rPr lang="en-AU" smtClean="0"/>
              <a:t>17/08/2026</a:t>
            </a:fld>
            <a:endParaRPr lang="en-AU"/>
          </a:p>
        </p:txBody>
      </p:sp>
      <p:sp>
        <p:nvSpPr>
          <p:cNvPr id="3" name="Footer Placeholder 2">
            <a:extLst>
              <a:ext uri="{FF2B5EF4-FFF2-40B4-BE49-F238E27FC236}">
                <a16:creationId xmlns:a16="http://schemas.microsoft.com/office/drawing/2014/main" id="{F53A3345-EE8A-9173-8267-100941C2D630}"/>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FBAAF3F4-040B-225E-F161-F0FEFBFCCE3A}"/>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237583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303C8-9D6A-F7ED-A8B0-5AC72F482C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D57671A7-2B1C-A358-B28A-8323BEC766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1FB96199-B313-74FD-EFF8-76A3BBA133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AA5DAF-5833-2242-FAF7-10F925FF2041}"/>
              </a:ext>
            </a:extLst>
          </p:cNvPr>
          <p:cNvSpPr>
            <a:spLocks noGrp="1"/>
          </p:cNvSpPr>
          <p:nvPr>
            <p:ph type="dt" sz="half" idx="10"/>
          </p:nvPr>
        </p:nvSpPr>
        <p:spPr/>
        <p:txBody>
          <a:bodyPr/>
          <a:lstStyle/>
          <a:p>
            <a:fld id="{08306F49-376E-45A5-AD65-FD4D759E20F3}" type="datetimeFigureOut">
              <a:rPr lang="en-AU" smtClean="0"/>
              <a:t>17/08/2026</a:t>
            </a:fld>
            <a:endParaRPr lang="en-AU"/>
          </a:p>
        </p:txBody>
      </p:sp>
      <p:sp>
        <p:nvSpPr>
          <p:cNvPr id="6" name="Footer Placeholder 5">
            <a:extLst>
              <a:ext uri="{FF2B5EF4-FFF2-40B4-BE49-F238E27FC236}">
                <a16:creationId xmlns:a16="http://schemas.microsoft.com/office/drawing/2014/main" id="{53F2CB91-E5F2-2E7B-256A-990C6609B5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49CB704-9481-1464-49F3-518714BC56A5}"/>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3390068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1353F-9D80-17E9-37A0-EAF2EAF923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494DD87-82E0-A6E3-1D75-4B7D25A515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29A2F487-7AB3-CDD8-CE80-E8B6B61DA7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0CCD8D-71A7-FF40-014C-1D9EF19DCA7A}"/>
              </a:ext>
            </a:extLst>
          </p:cNvPr>
          <p:cNvSpPr>
            <a:spLocks noGrp="1"/>
          </p:cNvSpPr>
          <p:nvPr>
            <p:ph type="dt" sz="half" idx="10"/>
          </p:nvPr>
        </p:nvSpPr>
        <p:spPr/>
        <p:txBody>
          <a:bodyPr/>
          <a:lstStyle/>
          <a:p>
            <a:fld id="{08306F49-376E-45A5-AD65-FD4D759E20F3}" type="datetimeFigureOut">
              <a:rPr lang="en-AU" smtClean="0"/>
              <a:t>17/08/2026</a:t>
            </a:fld>
            <a:endParaRPr lang="en-AU"/>
          </a:p>
        </p:txBody>
      </p:sp>
      <p:sp>
        <p:nvSpPr>
          <p:cNvPr id="6" name="Footer Placeholder 5">
            <a:extLst>
              <a:ext uri="{FF2B5EF4-FFF2-40B4-BE49-F238E27FC236}">
                <a16:creationId xmlns:a16="http://schemas.microsoft.com/office/drawing/2014/main" id="{6167D7CA-29DD-D3B8-4779-8A938300D82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3970AD0-41FA-AEC5-6FED-E0A007271F01}"/>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408030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9ECFB-EB9E-6110-B065-FF4ADA662DD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AAA87AAD-094E-6B91-3075-460A72AFBA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9057F2C-BEA5-6B93-0E6F-FEECC99F2C6C}"/>
              </a:ext>
            </a:extLst>
          </p:cNvPr>
          <p:cNvSpPr>
            <a:spLocks noGrp="1"/>
          </p:cNvSpPr>
          <p:nvPr>
            <p:ph type="dt" sz="half" idx="10"/>
          </p:nvPr>
        </p:nvSpPr>
        <p:spPr/>
        <p:txBody>
          <a:bodyPr/>
          <a:lstStyle/>
          <a:p>
            <a:fld id="{08306F49-376E-45A5-AD65-FD4D759E20F3}" type="datetimeFigureOut">
              <a:rPr lang="en-AU" smtClean="0"/>
              <a:t>17/08/2026</a:t>
            </a:fld>
            <a:endParaRPr lang="en-AU"/>
          </a:p>
        </p:txBody>
      </p:sp>
      <p:sp>
        <p:nvSpPr>
          <p:cNvPr id="5" name="Footer Placeholder 4">
            <a:extLst>
              <a:ext uri="{FF2B5EF4-FFF2-40B4-BE49-F238E27FC236}">
                <a16:creationId xmlns:a16="http://schemas.microsoft.com/office/drawing/2014/main" id="{B7D2699C-7E65-780F-F5AE-EDC1803ED1B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8A510EF-AEFF-694B-49F2-D614AFE8504E}"/>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2213408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6A1230-C486-B249-9342-8B8BAACF50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7980F6F-A7CB-B2AE-70D3-34D823CB65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EBCB807-4A4B-CB77-1315-4A0DF3C5E673}"/>
              </a:ext>
            </a:extLst>
          </p:cNvPr>
          <p:cNvSpPr>
            <a:spLocks noGrp="1"/>
          </p:cNvSpPr>
          <p:nvPr>
            <p:ph type="dt" sz="half" idx="10"/>
          </p:nvPr>
        </p:nvSpPr>
        <p:spPr/>
        <p:txBody>
          <a:bodyPr/>
          <a:lstStyle/>
          <a:p>
            <a:fld id="{08306F49-376E-45A5-AD65-FD4D759E20F3}" type="datetimeFigureOut">
              <a:rPr lang="en-AU" smtClean="0"/>
              <a:t>17/08/2026</a:t>
            </a:fld>
            <a:endParaRPr lang="en-AU"/>
          </a:p>
        </p:txBody>
      </p:sp>
      <p:sp>
        <p:nvSpPr>
          <p:cNvPr id="5" name="Footer Placeholder 4">
            <a:extLst>
              <a:ext uri="{FF2B5EF4-FFF2-40B4-BE49-F238E27FC236}">
                <a16:creationId xmlns:a16="http://schemas.microsoft.com/office/drawing/2014/main" id="{D000FAAB-9ED2-F6B3-BC07-55FDC528D87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CEE006A-7BBA-CB08-76AD-8009D5767D0F}"/>
              </a:ext>
            </a:extLst>
          </p:cNvPr>
          <p:cNvSpPr>
            <a:spLocks noGrp="1"/>
          </p:cNvSpPr>
          <p:nvPr>
            <p:ph type="sldNum" sz="quarter" idx="12"/>
          </p:nvPr>
        </p:nvSpPr>
        <p:spPr/>
        <p:txBody>
          <a:bodyPr/>
          <a:lstStyle/>
          <a:p>
            <a:fld id="{6FA5C14C-0761-49D0-95FC-F4C48F67B8D3}" type="slidenum">
              <a:rPr lang="en-AU" smtClean="0"/>
              <a:t>‹#›</a:t>
            </a:fld>
            <a:endParaRPr lang="en-AU"/>
          </a:p>
        </p:txBody>
      </p:sp>
    </p:spTree>
    <p:extLst>
      <p:ext uri="{BB962C8B-B14F-4D97-AF65-F5344CB8AC3E}">
        <p14:creationId xmlns:p14="http://schemas.microsoft.com/office/powerpoint/2010/main" val="2734245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724EC7-C0DF-DBB1-415D-3F665657C16E}"/>
              </a:ext>
            </a:extLst>
          </p:cNvPr>
          <p:cNvSpPr>
            <a:spLocks noGrp="1"/>
          </p:cNvSpPr>
          <p:nvPr>
            <p:ph type="title"/>
          </p:nvPr>
        </p:nvSpPr>
        <p:spPr>
          <a:xfrm>
            <a:off x="838200" y="136525"/>
            <a:ext cx="10515600" cy="720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0728EDD-BE12-1993-CF64-4D818CFFF99D}"/>
              </a:ext>
            </a:extLst>
          </p:cNvPr>
          <p:cNvSpPr>
            <a:spLocks noGrp="1"/>
          </p:cNvSpPr>
          <p:nvPr>
            <p:ph type="body" idx="1"/>
          </p:nvPr>
        </p:nvSpPr>
        <p:spPr>
          <a:xfrm>
            <a:off x="838200" y="1034042"/>
            <a:ext cx="10515600" cy="51429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BFC163C-B929-D55E-8B62-1A8E225492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306F49-376E-45A5-AD65-FD4D759E20F3}" type="datetimeFigureOut">
              <a:rPr lang="en-AU" smtClean="0"/>
              <a:t>17/08/2026</a:t>
            </a:fld>
            <a:endParaRPr lang="en-AU"/>
          </a:p>
        </p:txBody>
      </p:sp>
      <p:sp>
        <p:nvSpPr>
          <p:cNvPr id="5" name="Footer Placeholder 4">
            <a:extLst>
              <a:ext uri="{FF2B5EF4-FFF2-40B4-BE49-F238E27FC236}">
                <a16:creationId xmlns:a16="http://schemas.microsoft.com/office/drawing/2014/main" id="{462F3D33-F5B5-AAAC-DD3B-1571EA0D8B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1F2F11D7-9B03-956F-75F8-8F6FFCCFC3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FA5C14C-0761-49D0-95FC-F4C48F67B8D3}" type="slidenum">
              <a:rPr lang="en-AU" smtClean="0"/>
              <a:t>‹#›</a:t>
            </a:fld>
            <a:endParaRPr lang="en-AU"/>
          </a:p>
        </p:txBody>
      </p:sp>
    </p:spTree>
    <p:extLst>
      <p:ext uri="{BB962C8B-B14F-4D97-AF65-F5344CB8AC3E}">
        <p14:creationId xmlns:p14="http://schemas.microsoft.com/office/powerpoint/2010/main" val="41496605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CD2FC-2438-C29A-8E12-98F5C9B9DE10}"/>
              </a:ext>
            </a:extLst>
          </p:cNvPr>
          <p:cNvSpPr>
            <a:spLocks noGrp="1"/>
          </p:cNvSpPr>
          <p:nvPr>
            <p:ph type="ctrTitle"/>
          </p:nvPr>
        </p:nvSpPr>
        <p:spPr/>
        <p:txBody>
          <a:bodyPr/>
          <a:lstStyle/>
          <a:p>
            <a:r>
              <a:rPr lang="en-AU" dirty="0"/>
              <a:t>Zenblox Opensource</a:t>
            </a:r>
          </a:p>
        </p:txBody>
      </p:sp>
      <p:sp>
        <p:nvSpPr>
          <p:cNvPr id="3" name="Subtitle 2">
            <a:extLst>
              <a:ext uri="{FF2B5EF4-FFF2-40B4-BE49-F238E27FC236}">
                <a16:creationId xmlns:a16="http://schemas.microsoft.com/office/drawing/2014/main" id="{21CC6A01-226D-2601-7D2E-9DFB17C2B57E}"/>
              </a:ext>
            </a:extLst>
          </p:cNvPr>
          <p:cNvSpPr>
            <a:spLocks noGrp="1"/>
          </p:cNvSpPr>
          <p:nvPr>
            <p:ph type="subTitle" idx="1"/>
          </p:nvPr>
        </p:nvSpPr>
        <p:spPr/>
        <p:txBody>
          <a:bodyPr/>
          <a:lstStyle/>
          <a:p>
            <a:r>
              <a:rPr lang="en-AU" dirty="0"/>
              <a:t>Corp Architecture Overview</a:t>
            </a:r>
          </a:p>
        </p:txBody>
      </p:sp>
    </p:spTree>
    <p:extLst>
      <p:ext uri="{BB962C8B-B14F-4D97-AF65-F5344CB8AC3E}">
        <p14:creationId xmlns:p14="http://schemas.microsoft.com/office/powerpoint/2010/main" val="2562074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88B46-A8CB-68B8-C78A-F1A3F672A9F7}"/>
              </a:ext>
            </a:extLst>
          </p:cNvPr>
          <p:cNvSpPr>
            <a:spLocks noGrp="1"/>
          </p:cNvSpPr>
          <p:nvPr>
            <p:ph type="title"/>
          </p:nvPr>
        </p:nvSpPr>
        <p:spPr/>
        <p:txBody>
          <a:bodyPr/>
          <a:lstStyle/>
          <a:p>
            <a:r>
              <a:rPr lang="en-AU" dirty="0"/>
              <a:t>Use Cases</a:t>
            </a:r>
          </a:p>
        </p:txBody>
      </p:sp>
      <p:sp>
        <p:nvSpPr>
          <p:cNvPr id="3" name="Content Placeholder 2">
            <a:extLst>
              <a:ext uri="{FF2B5EF4-FFF2-40B4-BE49-F238E27FC236}">
                <a16:creationId xmlns:a16="http://schemas.microsoft.com/office/drawing/2014/main" id="{87FF8973-AD52-2DC5-3A83-EA46440ECC9E}"/>
              </a:ext>
            </a:extLst>
          </p:cNvPr>
          <p:cNvSpPr>
            <a:spLocks noGrp="1"/>
          </p:cNvSpPr>
          <p:nvPr>
            <p:ph idx="1"/>
          </p:nvPr>
        </p:nvSpPr>
        <p:spPr/>
        <p:txBody>
          <a:bodyPr>
            <a:normAutofit/>
          </a:bodyPr>
          <a:lstStyle/>
          <a:p>
            <a:r>
              <a:rPr lang="en-AU" b="1" dirty="0"/>
              <a:t>Replicating production</a:t>
            </a:r>
            <a:br>
              <a:rPr lang="en-AU" b="1" dirty="0"/>
            </a:br>
            <a:r>
              <a:rPr lang="en-AU" dirty="0"/>
              <a:t>Because the architecture is fully scripted, it allows a replica of the production environment to be created for disaster recovery or testing of changes to the base architecture.</a:t>
            </a:r>
          </a:p>
          <a:p>
            <a:r>
              <a:rPr lang="en-AU" b="1" dirty="0"/>
              <a:t>Automated security</a:t>
            </a:r>
            <a:br>
              <a:rPr lang="en-AU" b="1" dirty="0"/>
            </a:br>
            <a:r>
              <a:rPr lang="en-AU" dirty="0"/>
              <a:t>By overlaying the corporate support and security over individual application security.</a:t>
            </a:r>
          </a:p>
          <a:p>
            <a:r>
              <a:rPr lang="en-AU" b="1" dirty="0"/>
              <a:t>Federated support model</a:t>
            </a:r>
            <a:br>
              <a:rPr lang="en-AU" b="1" dirty="0"/>
            </a:br>
            <a:r>
              <a:rPr lang="en-AU" dirty="0"/>
              <a:t>Application support teams have autonomy and high privileges in their domain of control while the framework ensure they cannot compromise the base security standards.</a:t>
            </a:r>
          </a:p>
          <a:p>
            <a:endParaRPr lang="en-AU" dirty="0"/>
          </a:p>
          <a:p>
            <a:endParaRPr lang="en-AU" dirty="0"/>
          </a:p>
        </p:txBody>
      </p:sp>
    </p:spTree>
    <p:extLst>
      <p:ext uri="{BB962C8B-B14F-4D97-AF65-F5344CB8AC3E}">
        <p14:creationId xmlns:p14="http://schemas.microsoft.com/office/powerpoint/2010/main" val="946804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BE04BD8-2102-C4FA-658F-F7FD00C738E1}"/>
              </a:ext>
            </a:extLst>
          </p:cNvPr>
          <p:cNvSpPr/>
          <p:nvPr/>
        </p:nvSpPr>
        <p:spPr>
          <a:xfrm>
            <a:off x="1512217" y="3011973"/>
            <a:ext cx="1730185" cy="3461788"/>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Zenme Org Boundary</a:t>
            </a:r>
          </a:p>
        </p:txBody>
      </p:sp>
      <p:sp>
        <p:nvSpPr>
          <p:cNvPr id="13" name="Rectangle 12">
            <a:extLst>
              <a:ext uri="{FF2B5EF4-FFF2-40B4-BE49-F238E27FC236}">
                <a16:creationId xmlns:a16="http://schemas.microsoft.com/office/drawing/2014/main" id="{188CEB5D-6025-AC2C-19C2-137EA3B4484B}"/>
              </a:ext>
            </a:extLst>
          </p:cNvPr>
          <p:cNvSpPr/>
          <p:nvPr/>
        </p:nvSpPr>
        <p:spPr>
          <a:xfrm>
            <a:off x="3570432" y="2998430"/>
            <a:ext cx="5848261" cy="3461788"/>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Customer Org Boundary</a:t>
            </a:r>
          </a:p>
        </p:txBody>
      </p:sp>
      <p:sp>
        <p:nvSpPr>
          <p:cNvPr id="2" name="Title 1">
            <a:extLst>
              <a:ext uri="{FF2B5EF4-FFF2-40B4-BE49-F238E27FC236}">
                <a16:creationId xmlns:a16="http://schemas.microsoft.com/office/drawing/2014/main" id="{E38C65B2-C3B2-884A-16B4-C86DCB50FBFA}"/>
              </a:ext>
            </a:extLst>
          </p:cNvPr>
          <p:cNvSpPr>
            <a:spLocks noGrp="1"/>
          </p:cNvSpPr>
          <p:nvPr>
            <p:ph type="title"/>
          </p:nvPr>
        </p:nvSpPr>
        <p:spPr/>
        <p:txBody>
          <a:bodyPr/>
          <a:lstStyle/>
          <a:p>
            <a:r>
              <a:rPr lang="en-AU" dirty="0"/>
              <a:t>Zen Installer Initialisation</a:t>
            </a:r>
          </a:p>
        </p:txBody>
      </p:sp>
      <p:sp>
        <p:nvSpPr>
          <p:cNvPr id="11" name="Content Placeholder 10">
            <a:extLst>
              <a:ext uri="{FF2B5EF4-FFF2-40B4-BE49-F238E27FC236}">
                <a16:creationId xmlns:a16="http://schemas.microsoft.com/office/drawing/2014/main" id="{6C290412-2A2C-3EDD-D0F7-FFE47274DCAB}"/>
              </a:ext>
            </a:extLst>
          </p:cNvPr>
          <p:cNvSpPr>
            <a:spLocks noGrp="1"/>
          </p:cNvSpPr>
          <p:nvPr>
            <p:ph idx="1"/>
          </p:nvPr>
        </p:nvSpPr>
        <p:spPr>
          <a:xfrm>
            <a:off x="348343" y="856526"/>
            <a:ext cx="11355977" cy="1538331"/>
          </a:xfrm>
        </p:spPr>
        <p:txBody>
          <a:bodyPr>
            <a:normAutofit lnSpcReduction="10000"/>
          </a:bodyPr>
          <a:lstStyle/>
          <a:p>
            <a:r>
              <a:rPr lang="en-AU" sz="2000" dirty="0"/>
              <a:t>The customer provide a blank GitHub organisation, Azure, and AWS account.</a:t>
            </a:r>
          </a:p>
          <a:p>
            <a:r>
              <a:rPr lang="en-AU" sz="2000" dirty="0"/>
              <a:t>ZenInstaller uses the user’s credentials to clone the Zenme Corp code into a new GitHub repo.</a:t>
            </a:r>
          </a:p>
          <a:p>
            <a:r>
              <a:rPr lang="en-AU" sz="2000" dirty="0"/>
              <a:t>The customer modify this Corp repo as needed.</a:t>
            </a:r>
          </a:p>
          <a:p>
            <a:r>
              <a:rPr lang="en-AU" sz="2000" dirty="0"/>
              <a:t>ZenInstaller deploy from the customer Corp repo into the customer’s Azure and AWS accounts.</a:t>
            </a:r>
          </a:p>
        </p:txBody>
      </p:sp>
      <p:pic>
        <p:nvPicPr>
          <p:cNvPr id="5" name="Graphic 4" descr="User with solid fill">
            <a:extLst>
              <a:ext uri="{FF2B5EF4-FFF2-40B4-BE49-F238E27FC236}">
                <a16:creationId xmlns:a16="http://schemas.microsoft.com/office/drawing/2014/main" id="{92B23A80-A6C9-8826-1438-3213DF4236A9}"/>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312789" y="2639679"/>
            <a:ext cx="479426" cy="520701"/>
          </a:xfrm>
          <a:prstGeom prst="rect">
            <a:avLst/>
          </a:prstGeom>
        </p:spPr>
      </p:pic>
      <p:sp>
        <p:nvSpPr>
          <p:cNvPr id="6" name="Rectangle: Rounded Corners 5">
            <a:extLst>
              <a:ext uri="{FF2B5EF4-FFF2-40B4-BE49-F238E27FC236}">
                <a16:creationId xmlns:a16="http://schemas.microsoft.com/office/drawing/2014/main" id="{7BF7CDA6-1ACE-0439-1F5A-447DD408124F}"/>
              </a:ext>
            </a:extLst>
          </p:cNvPr>
          <p:cNvSpPr/>
          <p:nvPr/>
        </p:nvSpPr>
        <p:spPr>
          <a:xfrm>
            <a:off x="1657309" y="4135783"/>
            <a:ext cx="144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ZenInstaller</a:t>
            </a:r>
          </a:p>
          <a:p>
            <a:pPr algn="ctr"/>
            <a:r>
              <a:rPr lang="en-AU" sz="1600" dirty="0"/>
              <a:t>-Init-</a:t>
            </a:r>
          </a:p>
        </p:txBody>
      </p:sp>
      <p:sp>
        <p:nvSpPr>
          <p:cNvPr id="8" name="Rectangle: Rounded Corners 7">
            <a:extLst>
              <a:ext uri="{FF2B5EF4-FFF2-40B4-BE49-F238E27FC236}">
                <a16:creationId xmlns:a16="http://schemas.microsoft.com/office/drawing/2014/main" id="{B674EDEB-542D-9B1D-5FCB-8B9748C505DB}"/>
              </a:ext>
            </a:extLst>
          </p:cNvPr>
          <p:cNvSpPr/>
          <p:nvPr/>
        </p:nvSpPr>
        <p:spPr>
          <a:xfrm>
            <a:off x="4025455" y="3775783"/>
            <a:ext cx="108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GitHub</a:t>
            </a:r>
          </a:p>
        </p:txBody>
      </p:sp>
      <p:sp>
        <p:nvSpPr>
          <p:cNvPr id="9" name="Rectangle: Rounded Corners 8">
            <a:extLst>
              <a:ext uri="{FF2B5EF4-FFF2-40B4-BE49-F238E27FC236}">
                <a16:creationId xmlns:a16="http://schemas.microsoft.com/office/drawing/2014/main" id="{38FA2109-058E-2AE6-EB8B-2FBE813D5423}"/>
              </a:ext>
            </a:extLst>
          </p:cNvPr>
          <p:cNvSpPr/>
          <p:nvPr/>
        </p:nvSpPr>
        <p:spPr>
          <a:xfrm>
            <a:off x="4025455" y="4262300"/>
            <a:ext cx="108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Azure</a:t>
            </a:r>
          </a:p>
        </p:txBody>
      </p:sp>
      <p:sp>
        <p:nvSpPr>
          <p:cNvPr id="10" name="Rectangle: Rounded Corners 9">
            <a:extLst>
              <a:ext uri="{FF2B5EF4-FFF2-40B4-BE49-F238E27FC236}">
                <a16:creationId xmlns:a16="http://schemas.microsoft.com/office/drawing/2014/main" id="{8B43F9F8-FFBE-B26A-E83F-B84526F4074B}"/>
              </a:ext>
            </a:extLst>
          </p:cNvPr>
          <p:cNvSpPr/>
          <p:nvPr/>
        </p:nvSpPr>
        <p:spPr>
          <a:xfrm>
            <a:off x="4025455" y="4740783"/>
            <a:ext cx="108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AWS</a:t>
            </a:r>
          </a:p>
        </p:txBody>
      </p:sp>
      <p:cxnSp>
        <p:nvCxnSpPr>
          <p:cNvPr id="15" name="Straight Connector 14">
            <a:extLst>
              <a:ext uri="{FF2B5EF4-FFF2-40B4-BE49-F238E27FC236}">
                <a16:creationId xmlns:a16="http://schemas.microsoft.com/office/drawing/2014/main" id="{EC3460D2-3AB7-C68F-55BC-B066AD77348D}"/>
              </a:ext>
            </a:extLst>
          </p:cNvPr>
          <p:cNvCxnSpPr>
            <a:cxnSpLocks/>
            <a:stCxn id="6" idx="3"/>
            <a:endCxn id="8" idx="1"/>
          </p:cNvCxnSpPr>
          <p:nvPr/>
        </p:nvCxnSpPr>
        <p:spPr>
          <a:xfrm flipV="1">
            <a:off x="3097309" y="3955783"/>
            <a:ext cx="928146" cy="450000"/>
          </a:xfrm>
          <a:prstGeom prst="line">
            <a:avLst/>
          </a:prstGeom>
          <a:ln>
            <a:headEnd type="none" w="med" len="med"/>
            <a:tailEnd type="triangle" w="med" len="med"/>
          </a:ln>
        </p:spPr>
        <p:style>
          <a:lnRef idx="1">
            <a:schemeClr val="accent5"/>
          </a:lnRef>
          <a:fillRef idx="0">
            <a:schemeClr val="accent5"/>
          </a:fillRef>
          <a:effectRef idx="0">
            <a:schemeClr val="accent5"/>
          </a:effectRef>
          <a:fontRef idx="minor">
            <a:schemeClr val="tx1"/>
          </a:fontRef>
        </p:style>
      </p:cxnSp>
      <p:cxnSp>
        <p:nvCxnSpPr>
          <p:cNvPr id="16" name="Straight Connector 15">
            <a:extLst>
              <a:ext uri="{FF2B5EF4-FFF2-40B4-BE49-F238E27FC236}">
                <a16:creationId xmlns:a16="http://schemas.microsoft.com/office/drawing/2014/main" id="{CDC861EA-8B85-5F72-F730-2CFFD65AAC94}"/>
              </a:ext>
            </a:extLst>
          </p:cNvPr>
          <p:cNvCxnSpPr>
            <a:cxnSpLocks/>
            <a:stCxn id="5" idx="2"/>
            <a:endCxn id="6" idx="1"/>
          </p:cNvCxnSpPr>
          <p:nvPr/>
        </p:nvCxnSpPr>
        <p:spPr>
          <a:xfrm rot="16200000" flipH="1">
            <a:off x="482204" y="3230677"/>
            <a:ext cx="1245403" cy="1104807"/>
          </a:xfrm>
          <a:prstGeom prst="curvedConnector2">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FFC0E738-42E8-E87E-19A6-0C36746265D1}"/>
              </a:ext>
            </a:extLst>
          </p:cNvPr>
          <p:cNvCxnSpPr>
            <a:cxnSpLocks/>
            <a:stCxn id="6" idx="3"/>
            <a:endCxn id="9" idx="1"/>
          </p:cNvCxnSpPr>
          <p:nvPr/>
        </p:nvCxnSpPr>
        <p:spPr>
          <a:xfrm>
            <a:off x="3097309" y="4405783"/>
            <a:ext cx="928146" cy="36517"/>
          </a:xfrm>
          <a:prstGeom prst="line">
            <a:avLst/>
          </a:prstGeom>
          <a:ln>
            <a:headEnd type="none" w="med" len="med"/>
            <a:tailEnd type="triangle" w="med" len="med"/>
          </a:ln>
        </p:spPr>
        <p:style>
          <a:lnRef idx="1">
            <a:schemeClr val="accent5"/>
          </a:lnRef>
          <a:fillRef idx="0">
            <a:schemeClr val="accent5"/>
          </a:fillRef>
          <a:effectRef idx="0">
            <a:schemeClr val="accent5"/>
          </a:effectRef>
          <a:fontRef idx="minor">
            <a:schemeClr val="tx1"/>
          </a:fontRef>
        </p:style>
      </p:cxnSp>
      <p:cxnSp>
        <p:nvCxnSpPr>
          <p:cNvPr id="29" name="Straight Connector 28">
            <a:extLst>
              <a:ext uri="{FF2B5EF4-FFF2-40B4-BE49-F238E27FC236}">
                <a16:creationId xmlns:a16="http://schemas.microsoft.com/office/drawing/2014/main" id="{F213BA31-A8C5-D082-3398-50203ABF0DBD}"/>
              </a:ext>
            </a:extLst>
          </p:cNvPr>
          <p:cNvCxnSpPr>
            <a:cxnSpLocks/>
            <a:stCxn id="6" idx="3"/>
            <a:endCxn id="10" idx="1"/>
          </p:cNvCxnSpPr>
          <p:nvPr/>
        </p:nvCxnSpPr>
        <p:spPr>
          <a:xfrm>
            <a:off x="3097309" y="4405783"/>
            <a:ext cx="928146" cy="515000"/>
          </a:xfrm>
          <a:prstGeom prst="line">
            <a:avLst/>
          </a:prstGeom>
          <a:ln>
            <a:headEnd type="none" w="med" len="med"/>
            <a:tailEnd type="triangle" w="med" len="med"/>
          </a:ln>
        </p:spPr>
        <p:style>
          <a:lnRef idx="1">
            <a:schemeClr val="accent5"/>
          </a:lnRef>
          <a:fillRef idx="0">
            <a:schemeClr val="accent5"/>
          </a:fillRef>
          <a:effectRef idx="0">
            <a:schemeClr val="accent5"/>
          </a:effectRef>
          <a:fontRef idx="minor">
            <a:schemeClr val="tx1"/>
          </a:fontRef>
        </p:style>
      </p:cxnSp>
      <p:sp>
        <p:nvSpPr>
          <p:cNvPr id="35" name="Rectangle: Rounded Corners 34">
            <a:extLst>
              <a:ext uri="{FF2B5EF4-FFF2-40B4-BE49-F238E27FC236}">
                <a16:creationId xmlns:a16="http://schemas.microsoft.com/office/drawing/2014/main" id="{4E8F2C7B-9F3B-1FBB-A8B9-BA2981DA7620}"/>
              </a:ext>
            </a:extLst>
          </p:cNvPr>
          <p:cNvSpPr/>
          <p:nvPr/>
        </p:nvSpPr>
        <p:spPr>
          <a:xfrm>
            <a:off x="6186764" y="3333967"/>
            <a:ext cx="180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Corp Repository</a:t>
            </a:r>
          </a:p>
        </p:txBody>
      </p:sp>
      <p:cxnSp>
        <p:nvCxnSpPr>
          <p:cNvPr id="36" name="Straight Connector 35">
            <a:extLst>
              <a:ext uri="{FF2B5EF4-FFF2-40B4-BE49-F238E27FC236}">
                <a16:creationId xmlns:a16="http://schemas.microsoft.com/office/drawing/2014/main" id="{4B9396CE-E663-6025-45BD-9B9372A2A649}"/>
              </a:ext>
            </a:extLst>
          </p:cNvPr>
          <p:cNvCxnSpPr>
            <a:cxnSpLocks/>
            <a:stCxn id="8" idx="3"/>
            <a:endCxn id="35" idx="1"/>
          </p:cNvCxnSpPr>
          <p:nvPr/>
        </p:nvCxnSpPr>
        <p:spPr>
          <a:xfrm flipV="1">
            <a:off x="5105455" y="3513967"/>
            <a:ext cx="1081309" cy="441816"/>
          </a:xfrm>
          <a:prstGeom prst="line">
            <a:avLst/>
          </a:prstGeom>
          <a:ln>
            <a:headEnd type="none" w="med" len="med"/>
            <a:tailEnd type="triangle" w="med" len="med"/>
          </a:ln>
        </p:spPr>
        <p:style>
          <a:lnRef idx="1">
            <a:schemeClr val="accent5"/>
          </a:lnRef>
          <a:fillRef idx="0">
            <a:schemeClr val="accent5"/>
          </a:fillRef>
          <a:effectRef idx="0">
            <a:schemeClr val="accent5"/>
          </a:effectRef>
          <a:fontRef idx="minor">
            <a:schemeClr val="tx1"/>
          </a:fontRef>
        </p:style>
      </p:cxnSp>
      <p:sp>
        <p:nvSpPr>
          <p:cNvPr id="53" name="Rectangle: Rounded Corners 52">
            <a:extLst>
              <a:ext uri="{FF2B5EF4-FFF2-40B4-BE49-F238E27FC236}">
                <a16:creationId xmlns:a16="http://schemas.microsoft.com/office/drawing/2014/main" id="{2059C326-2BF8-3DEF-4135-6051569E20CD}"/>
              </a:ext>
            </a:extLst>
          </p:cNvPr>
          <p:cNvSpPr/>
          <p:nvPr/>
        </p:nvSpPr>
        <p:spPr>
          <a:xfrm>
            <a:off x="1657309" y="5695814"/>
            <a:ext cx="144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ZenInstaller</a:t>
            </a:r>
          </a:p>
          <a:p>
            <a:pPr algn="ctr"/>
            <a:r>
              <a:rPr lang="en-AU" sz="1600" dirty="0"/>
              <a:t>-Deploy-</a:t>
            </a:r>
          </a:p>
        </p:txBody>
      </p:sp>
      <p:cxnSp>
        <p:nvCxnSpPr>
          <p:cNvPr id="60" name="Straight Connector 15">
            <a:extLst>
              <a:ext uri="{FF2B5EF4-FFF2-40B4-BE49-F238E27FC236}">
                <a16:creationId xmlns:a16="http://schemas.microsoft.com/office/drawing/2014/main" id="{194E4AE2-1149-64E4-16EB-6706C66330B9}"/>
              </a:ext>
            </a:extLst>
          </p:cNvPr>
          <p:cNvCxnSpPr>
            <a:cxnSpLocks/>
            <a:stCxn id="5" idx="2"/>
            <a:endCxn id="53" idx="1"/>
          </p:cNvCxnSpPr>
          <p:nvPr/>
        </p:nvCxnSpPr>
        <p:spPr>
          <a:xfrm rot="16200000" flipH="1">
            <a:off x="-297812" y="4010693"/>
            <a:ext cx="2805434" cy="1104807"/>
          </a:xfrm>
          <a:prstGeom prst="curvedConnector2">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65" name="Straight Connector 15">
            <a:extLst>
              <a:ext uri="{FF2B5EF4-FFF2-40B4-BE49-F238E27FC236}">
                <a16:creationId xmlns:a16="http://schemas.microsoft.com/office/drawing/2014/main" id="{8397F0D5-C9E9-437B-0496-A81D36447C85}"/>
              </a:ext>
            </a:extLst>
          </p:cNvPr>
          <p:cNvCxnSpPr>
            <a:cxnSpLocks/>
            <a:stCxn id="35" idx="2"/>
            <a:endCxn id="88" idx="0"/>
          </p:cNvCxnSpPr>
          <p:nvPr/>
        </p:nvCxnSpPr>
        <p:spPr>
          <a:xfrm rot="5400000">
            <a:off x="6537990" y="4242741"/>
            <a:ext cx="1097548" cy="12700"/>
          </a:xfrm>
          <a:prstGeom prst="bentConnector3">
            <a:avLst>
              <a:gd name="adj1" fmla="val 50000"/>
            </a:avLst>
          </a:prstGeom>
          <a:ln>
            <a:prstDash val="dash"/>
            <a:headEnd type="non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72" name="Rectangle: Rounded Corners 71">
            <a:extLst>
              <a:ext uri="{FF2B5EF4-FFF2-40B4-BE49-F238E27FC236}">
                <a16:creationId xmlns:a16="http://schemas.microsoft.com/office/drawing/2014/main" id="{B42FD9E5-4397-567E-D329-7671D28DEE74}"/>
              </a:ext>
            </a:extLst>
          </p:cNvPr>
          <p:cNvSpPr/>
          <p:nvPr/>
        </p:nvSpPr>
        <p:spPr>
          <a:xfrm>
            <a:off x="5560478" y="5697917"/>
            <a:ext cx="108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Azure</a:t>
            </a:r>
          </a:p>
        </p:txBody>
      </p:sp>
      <p:sp>
        <p:nvSpPr>
          <p:cNvPr id="73" name="Rectangle: Rounded Corners 72">
            <a:extLst>
              <a:ext uri="{FF2B5EF4-FFF2-40B4-BE49-F238E27FC236}">
                <a16:creationId xmlns:a16="http://schemas.microsoft.com/office/drawing/2014/main" id="{7B821AA0-FAB8-8F1A-E39C-EC28A6FEBCAE}"/>
              </a:ext>
            </a:extLst>
          </p:cNvPr>
          <p:cNvSpPr/>
          <p:nvPr/>
        </p:nvSpPr>
        <p:spPr>
          <a:xfrm>
            <a:off x="7533050" y="5697917"/>
            <a:ext cx="108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AWS</a:t>
            </a:r>
          </a:p>
        </p:txBody>
      </p:sp>
      <p:cxnSp>
        <p:nvCxnSpPr>
          <p:cNvPr id="74" name="Straight Connector 15">
            <a:extLst>
              <a:ext uri="{FF2B5EF4-FFF2-40B4-BE49-F238E27FC236}">
                <a16:creationId xmlns:a16="http://schemas.microsoft.com/office/drawing/2014/main" id="{6F6FA9A1-5805-D333-650C-B4B46A0F8E9C}"/>
              </a:ext>
            </a:extLst>
          </p:cNvPr>
          <p:cNvCxnSpPr>
            <a:cxnSpLocks/>
            <a:stCxn id="88" idx="2"/>
            <a:endCxn id="72" idx="0"/>
          </p:cNvCxnSpPr>
          <p:nvPr/>
        </p:nvCxnSpPr>
        <p:spPr>
          <a:xfrm flipH="1">
            <a:off x="6100478" y="5286142"/>
            <a:ext cx="986286" cy="411775"/>
          </a:xfrm>
          <a:prstGeom prst="straightConnector1">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77" name="Straight Connector 15">
            <a:extLst>
              <a:ext uri="{FF2B5EF4-FFF2-40B4-BE49-F238E27FC236}">
                <a16:creationId xmlns:a16="http://schemas.microsoft.com/office/drawing/2014/main" id="{6026BA4D-A5DE-7B85-13B8-C23EBB3424CB}"/>
              </a:ext>
            </a:extLst>
          </p:cNvPr>
          <p:cNvCxnSpPr>
            <a:cxnSpLocks/>
            <a:stCxn id="88" idx="2"/>
            <a:endCxn id="73" idx="0"/>
          </p:cNvCxnSpPr>
          <p:nvPr/>
        </p:nvCxnSpPr>
        <p:spPr>
          <a:xfrm>
            <a:off x="7086764" y="5286142"/>
            <a:ext cx="986286" cy="411775"/>
          </a:xfrm>
          <a:prstGeom prst="straightConnector1">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88" name="Rectangle: Rounded Corners 87">
            <a:extLst>
              <a:ext uri="{FF2B5EF4-FFF2-40B4-BE49-F238E27FC236}">
                <a16:creationId xmlns:a16="http://schemas.microsoft.com/office/drawing/2014/main" id="{B65787AF-BEBD-3D39-B239-5CF9E4C72AEF}"/>
              </a:ext>
            </a:extLst>
          </p:cNvPr>
          <p:cNvSpPr/>
          <p:nvPr/>
        </p:nvSpPr>
        <p:spPr>
          <a:xfrm>
            <a:off x="6186764" y="4791515"/>
            <a:ext cx="1800000" cy="494627"/>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GitHub Code Deployer</a:t>
            </a:r>
          </a:p>
        </p:txBody>
      </p:sp>
      <p:cxnSp>
        <p:nvCxnSpPr>
          <p:cNvPr id="92" name="Straight Connector 15">
            <a:extLst>
              <a:ext uri="{FF2B5EF4-FFF2-40B4-BE49-F238E27FC236}">
                <a16:creationId xmlns:a16="http://schemas.microsoft.com/office/drawing/2014/main" id="{C0DE6055-E067-2787-FEC4-507A352F25D6}"/>
              </a:ext>
            </a:extLst>
          </p:cNvPr>
          <p:cNvCxnSpPr>
            <a:cxnSpLocks/>
            <a:stCxn id="53" idx="3"/>
            <a:endCxn id="88" idx="1"/>
          </p:cNvCxnSpPr>
          <p:nvPr/>
        </p:nvCxnSpPr>
        <p:spPr>
          <a:xfrm flipV="1">
            <a:off x="3097309" y="5038829"/>
            <a:ext cx="3089455" cy="926985"/>
          </a:xfrm>
          <a:prstGeom prst="straightConnector1">
            <a:avLst/>
          </a:prstGeom>
          <a:ln>
            <a:prstDash val="dash"/>
            <a:headEnd type="non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129" name="Rectangle 128">
            <a:extLst>
              <a:ext uri="{FF2B5EF4-FFF2-40B4-BE49-F238E27FC236}">
                <a16:creationId xmlns:a16="http://schemas.microsoft.com/office/drawing/2014/main" id="{133143AC-6052-454A-7D7B-89F0FE2C4A8D}"/>
              </a:ext>
            </a:extLst>
          </p:cNvPr>
          <p:cNvSpPr/>
          <p:nvPr/>
        </p:nvSpPr>
        <p:spPr>
          <a:xfrm>
            <a:off x="2866417" y="3997458"/>
            <a:ext cx="108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Init</a:t>
            </a:r>
          </a:p>
        </p:txBody>
      </p:sp>
      <p:sp>
        <p:nvSpPr>
          <p:cNvPr id="130" name="Rectangle 129">
            <a:extLst>
              <a:ext uri="{FF2B5EF4-FFF2-40B4-BE49-F238E27FC236}">
                <a16:creationId xmlns:a16="http://schemas.microsoft.com/office/drawing/2014/main" id="{2A8CD8E6-A312-CF1A-6C29-AAF8D4CB17BB}"/>
              </a:ext>
            </a:extLst>
          </p:cNvPr>
          <p:cNvSpPr/>
          <p:nvPr/>
        </p:nvSpPr>
        <p:spPr>
          <a:xfrm>
            <a:off x="3425339" y="5848543"/>
            <a:ext cx="108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Deploy</a:t>
            </a:r>
          </a:p>
        </p:txBody>
      </p:sp>
      <p:sp>
        <p:nvSpPr>
          <p:cNvPr id="7" name="Rectangle: Rounded Corners 6">
            <a:extLst>
              <a:ext uri="{FF2B5EF4-FFF2-40B4-BE49-F238E27FC236}">
                <a16:creationId xmlns:a16="http://schemas.microsoft.com/office/drawing/2014/main" id="{5F10F245-A7F1-7608-991F-205115FE594F}"/>
              </a:ext>
            </a:extLst>
          </p:cNvPr>
          <p:cNvSpPr/>
          <p:nvPr/>
        </p:nvSpPr>
        <p:spPr>
          <a:xfrm>
            <a:off x="1665380" y="3445898"/>
            <a:ext cx="144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Template Repository</a:t>
            </a:r>
          </a:p>
        </p:txBody>
      </p:sp>
      <p:cxnSp>
        <p:nvCxnSpPr>
          <p:cNvPr id="21" name="Straight Connector 20">
            <a:extLst>
              <a:ext uri="{FF2B5EF4-FFF2-40B4-BE49-F238E27FC236}">
                <a16:creationId xmlns:a16="http://schemas.microsoft.com/office/drawing/2014/main" id="{5BBED580-3543-7BF6-5BAE-5F10B348D33F}"/>
              </a:ext>
            </a:extLst>
          </p:cNvPr>
          <p:cNvCxnSpPr>
            <a:cxnSpLocks/>
            <a:stCxn id="7" idx="3"/>
            <a:endCxn id="35" idx="1"/>
          </p:cNvCxnSpPr>
          <p:nvPr/>
        </p:nvCxnSpPr>
        <p:spPr>
          <a:xfrm flipV="1">
            <a:off x="3105380" y="3513967"/>
            <a:ext cx="3081384" cy="201931"/>
          </a:xfrm>
          <a:prstGeom prst="line">
            <a:avLst/>
          </a:prstGeom>
          <a:ln>
            <a:headEnd type="none" w="med" len="med"/>
            <a:tailEnd type="triangle" w="med" len="med"/>
          </a:ln>
        </p:spPr>
        <p:style>
          <a:lnRef idx="1">
            <a:schemeClr val="accent5"/>
          </a:lnRef>
          <a:fillRef idx="0">
            <a:schemeClr val="accent5"/>
          </a:fillRef>
          <a:effectRef idx="0">
            <a:schemeClr val="accent5"/>
          </a:effectRef>
          <a:fontRef idx="minor">
            <a:schemeClr val="tx1"/>
          </a:fontRef>
        </p:style>
      </p:cxnSp>
      <p:sp>
        <p:nvSpPr>
          <p:cNvPr id="24" name="Rectangle 23">
            <a:extLst>
              <a:ext uri="{FF2B5EF4-FFF2-40B4-BE49-F238E27FC236}">
                <a16:creationId xmlns:a16="http://schemas.microsoft.com/office/drawing/2014/main" id="{E2409610-9738-784C-6BFC-4350201E24C1}"/>
              </a:ext>
            </a:extLst>
          </p:cNvPr>
          <p:cNvSpPr/>
          <p:nvPr/>
        </p:nvSpPr>
        <p:spPr>
          <a:xfrm>
            <a:off x="3662118" y="3361238"/>
            <a:ext cx="1339252" cy="152729"/>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Initial Fork Replica</a:t>
            </a:r>
          </a:p>
        </p:txBody>
      </p:sp>
      <p:sp>
        <p:nvSpPr>
          <p:cNvPr id="26" name="Rectangle 25">
            <a:extLst>
              <a:ext uri="{FF2B5EF4-FFF2-40B4-BE49-F238E27FC236}">
                <a16:creationId xmlns:a16="http://schemas.microsoft.com/office/drawing/2014/main" id="{A136D44D-90E9-B8A3-D82B-A7304C29FE43}"/>
              </a:ext>
            </a:extLst>
          </p:cNvPr>
          <p:cNvSpPr/>
          <p:nvPr/>
        </p:nvSpPr>
        <p:spPr>
          <a:xfrm>
            <a:off x="7235846" y="4117540"/>
            <a:ext cx="837204" cy="50476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Add customer changes</a:t>
            </a:r>
          </a:p>
        </p:txBody>
      </p:sp>
    </p:spTree>
    <p:extLst>
      <p:ext uri="{BB962C8B-B14F-4D97-AF65-F5344CB8AC3E}">
        <p14:creationId xmlns:p14="http://schemas.microsoft.com/office/powerpoint/2010/main" val="2870420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C76C5-2387-C030-93D9-D426870C2C0C}"/>
            </a:ext>
          </a:extLst>
        </p:cNvPr>
        <p:cNvGrpSpPr/>
        <p:nvPr/>
      </p:nvGrpSpPr>
      <p:grpSpPr>
        <a:xfrm>
          <a:off x="0" y="0"/>
          <a:ext cx="0" cy="0"/>
          <a:chOff x="0" y="0"/>
          <a:chExt cx="0" cy="0"/>
        </a:xfrm>
      </p:grpSpPr>
      <p:sp>
        <p:nvSpPr>
          <p:cNvPr id="71" name="Rectangle 70">
            <a:extLst>
              <a:ext uri="{FF2B5EF4-FFF2-40B4-BE49-F238E27FC236}">
                <a16:creationId xmlns:a16="http://schemas.microsoft.com/office/drawing/2014/main" id="{7AC4CB0E-EFC0-43A7-BB72-3262B36F43AE}"/>
              </a:ext>
            </a:extLst>
          </p:cNvPr>
          <p:cNvSpPr/>
          <p:nvPr/>
        </p:nvSpPr>
        <p:spPr>
          <a:xfrm>
            <a:off x="2628512" y="3028746"/>
            <a:ext cx="7488286" cy="3461788"/>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Org Boundary</a:t>
            </a:r>
          </a:p>
        </p:txBody>
      </p:sp>
      <p:sp>
        <p:nvSpPr>
          <p:cNvPr id="24" name="Rectangle 23">
            <a:extLst>
              <a:ext uri="{FF2B5EF4-FFF2-40B4-BE49-F238E27FC236}">
                <a16:creationId xmlns:a16="http://schemas.microsoft.com/office/drawing/2014/main" id="{92D1ECB6-D702-D08D-5824-DE1D6315ABDD}"/>
              </a:ext>
            </a:extLst>
          </p:cNvPr>
          <p:cNvSpPr/>
          <p:nvPr/>
        </p:nvSpPr>
        <p:spPr>
          <a:xfrm>
            <a:off x="5023066" y="3154924"/>
            <a:ext cx="4941331" cy="1047325"/>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App Domain</a:t>
            </a:r>
          </a:p>
        </p:txBody>
      </p:sp>
      <p:sp>
        <p:nvSpPr>
          <p:cNvPr id="2" name="Title 1">
            <a:extLst>
              <a:ext uri="{FF2B5EF4-FFF2-40B4-BE49-F238E27FC236}">
                <a16:creationId xmlns:a16="http://schemas.microsoft.com/office/drawing/2014/main" id="{156E9423-6C6A-3C26-A1C9-9A655074117F}"/>
              </a:ext>
            </a:extLst>
          </p:cNvPr>
          <p:cNvSpPr>
            <a:spLocks noGrp="1"/>
          </p:cNvSpPr>
          <p:nvPr>
            <p:ph type="title"/>
          </p:nvPr>
        </p:nvSpPr>
        <p:spPr/>
        <p:txBody>
          <a:bodyPr/>
          <a:lstStyle/>
          <a:p>
            <a:r>
              <a:rPr lang="en-AU" dirty="0"/>
              <a:t>App Authentication Architecture</a:t>
            </a:r>
          </a:p>
        </p:txBody>
      </p:sp>
      <p:sp>
        <p:nvSpPr>
          <p:cNvPr id="3" name="Content Placeholder 2">
            <a:extLst>
              <a:ext uri="{FF2B5EF4-FFF2-40B4-BE49-F238E27FC236}">
                <a16:creationId xmlns:a16="http://schemas.microsoft.com/office/drawing/2014/main" id="{9A822221-5F87-8818-95F2-705E15906285}"/>
              </a:ext>
            </a:extLst>
          </p:cNvPr>
          <p:cNvSpPr>
            <a:spLocks noGrp="1"/>
          </p:cNvSpPr>
          <p:nvPr>
            <p:ph idx="1"/>
          </p:nvPr>
        </p:nvSpPr>
        <p:spPr>
          <a:xfrm>
            <a:off x="348343" y="991015"/>
            <a:ext cx="11355977" cy="1774712"/>
          </a:xfrm>
        </p:spPr>
        <p:txBody>
          <a:bodyPr>
            <a:normAutofit/>
          </a:bodyPr>
          <a:lstStyle/>
          <a:p>
            <a:pPr>
              <a:lnSpc>
                <a:spcPct val="100000"/>
              </a:lnSpc>
              <a:spcBef>
                <a:spcPts val="600"/>
              </a:spcBef>
            </a:pPr>
            <a:r>
              <a:rPr lang="en-AU" sz="1600" dirty="0"/>
              <a:t>The app architecture has double layer authentication. Initial authentication occurs at the CDN (content delivery network) layer, which then saves the authentication token to a cookie.</a:t>
            </a:r>
          </a:p>
          <a:p>
            <a:pPr>
              <a:lnSpc>
                <a:spcPct val="100000"/>
              </a:lnSpc>
              <a:spcBef>
                <a:spcPts val="600"/>
              </a:spcBef>
            </a:pPr>
            <a:r>
              <a:rPr lang="en-AU" sz="1600" dirty="0"/>
              <a:t>All traffic to applications within the organisation is accompanied by the auth token that is verified by any application function that is called.</a:t>
            </a:r>
          </a:p>
          <a:p>
            <a:pPr>
              <a:lnSpc>
                <a:spcPct val="100000"/>
              </a:lnSpc>
              <a:spcBef>
                <a:spcPts val="600"/>
              </a:spcBef>
            </a:pPr>
            <a:r>
              <a:rPr lang="en-AU" sz="1600" dirty="0"/>
              <a:t>Applications are hosted in independent app domains so that they cannot interfere with each other. In some cases, an app may require specialised authentication tokens which it can obtain for itself.</a:t>
            </a:r>
          </a:p>
        </p:txBody>
      </p:sp>
      <p:pic>
        <p:nvPicPr>
          <p:cNvPr id="5" name="Graphic 4" descr="User with solid fill">
            <a:extLst>
              <a:ext uri="{FF2B5EF4-FFF2-40B4-BE49-F238E27FC236}">
                <a16:creationId xmlns:a16="http://schemas.microsoft.com/office/drawing/2014/main" id="{C40B9105-1CFE-2653-A5A9-8DC2B984D009}"/>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821908" y="3465064"/>
            <a:ext cx="479426" cy="520701"/>
          </a:xfrm>
          <a:prstGeom prst="rect">
            <a:avLst/>
          </a:prstGeom>
        </p:spPr>
      </p:pic>
      <p:sp>
        <p:nvSpPr>
          <p:cNvPr id="6" name="Rectangle: Rounded Corners 5">
            <a:extLst>
              <a:ext uri="{FF2B5EF4-FFF2-40B4-BE49-F238E27FC236}">
                <a16:creationId xmlns:a16="http://schemas.microsoft.com/office/drawing/2014/main" id="{5B98B53A-C594-42D0-8EC7-B90397CFD049}"/>
              </a:ext>
            </a:extLst>
          </p:cNvPr>
          <p:cNvSpPr/>
          <p:nvPr/>
        </p:nvSpPr>
        <p:spPr>
          <a:xfrm>
            <a:off x="2765618" y="3465064"/>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CDN</a:t>
            </a:r>
          </a:p>
        </p:txBody>
      </p:sp>
      <p:sp>
        <p:nvSpPr>
          <p:cNvPr id="7" name="Rectangle: Rounded Corners 6">
            <a:extLst>
              <a:ext uri="{FF2B5EF4-FFF2-40B4-BE49-F238E27FC236}">
                <a16:creationId xmlns:a16="http://schemas.microsoft.com/office/drawing/2014/main" id="{8A191FA6-5CEA-BEDD-8873-114CFF6263E4}"/>
              </a:ext>
            </a:extLst>
          </p:cNvPr>
          <p:cNvSpPr/>
          <p:nvPr/>
        </p:nvSpPr>
        <p:spPr>
          <a:xfrm>
            <a:off x="5167721" y="3465064"/>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Gateway</a:t>
            </a:r>
          </a:p>
        </p:txBody>
      </p:sp>
      <p:sp>
        <p:nvSpPr>
          <p:cNvPr id="8" name="Rectangle: Rounded Corners 7">
            <a:extLst>
              <a:ext uri="{FF2B5EF4-FFF2-40B4-BE49-F238E27FC236}">
                <a16:creationId xmlns:a16="http://schemas.microsoft.com/office/drawing/2014/main" id="{2F6718D5-198A-610D-9556-438F62DC817A}"/>
              </a:ext>
            </a:extLst>
          </p:cNvPr>
          <p:cNvSpPr/>
          <p:nvPr/>
        </p:nvSpPr>
        <p:spPr>
          <a:xfrm>
            <a:off x="2867888" y="3884050"/>
            <a:ext cx="36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SSL</a:t>
            </a:r>
          </a:p>
        </p:txBody>
      </p:sp>
      <p:sp>
        <p:nvSpPr>
          <p:cNvPr id="10" name="Rectangle: Rounded Corners 9">
            <a:extLst>
              <a:ext uri="{FF2B5EF4-FFF2-40B4-BE49-F238E27FC236}">
                <a16:creationId xmlns:a16="http://schemas.microsoft.com/office/drawing/2014/main" id="{CD0242B2-D816-B168-99A7-2DD000D5DAF9}"/>
              </a:ext>
            </a:extLst>
          </p:cNvPr>
          <p:cNvSpPr/>
          <p:nvPr/>
        </p:nvSpPr>
        <p:spPr>
          <a:xfrm>
            <a:off x="2765618" y="5970319"/>
            <a:ext cx="108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Entra ID</a:t>
            </a:r>
          </a:p>
        </p:txBody>
      </p:sp>
      <p:cxnSp>
        <p:nvCxnSpPr>
          <p:cNvPr id="11" name="Straight Connector 10">
            <a:extLst>
              <a:ext uri="{FF2B5EF4-FFF2-40B4-BE49-F238E27FC236}">
                <a16:creationId xmlns:a16="http://schemas.microsoft.com/office/drawing/2014/main" id="{AB5DB042-304F-6352-C853-2FFC319D4AF9}"/>
              </a:ext>
            </a:extLst>
          </p:cNvPr>
          <p:cNvCxnSpPr>
            <a:stCxn id="5" idx="3"/>
            <a:endCxn id="6" idx="1"/>
          </p:cNvCxnSpPr>
          <p:nvPr/>
        </p:nvCxnSpPr>
        <p:spPr>
          <a:xfrm>
            <a:off x="1301334" y="3725415"/>
            <a:ext cx="1464284" cy="9649"/>
          </a:xfrm>
          <a:prstGeom prst="line">
            <a:avLst/>
          </a:prstGeom>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B1381041-4503-C272-F05C-76C1F68B1108}"/>
              </a:ext>
            </a:extLst>
          </p:cNvPr>
          <p:cNvSpPr/>
          <p:nvPr/>
        </p:nvSpPr>
        <p:spPr>
          <a:xfrm>
            <a:off x="1427888" y="3748258"/>
            <a:ext cx="108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https://...</a:t>
            </a:r>
          </a:p>
        </p:txBody>
      </p:sp>
      <p:sp>
        <p:nvSpPr>
          <p:cNvPr id="15" name="Rectangle: Rounded Corners 14">
            <a:extLst>
              <a:ext uri="{FF2B5EF4-FFF2-40B4-BE49-F238E27FC236}">
                <a16:creationId xmlns:a16="http://schemas.microsoft.com/office/drawing/2014/main" id="{2930F94F-B99B-1DC5-49BA-E6A26451E147}"/>
              </a:ext>
            </a:extLst>
          </p:cNvPr>
          <p:cNvSpPr/>
          <p:nvPr/>
        </p:nvSpPr>
        <p:spPr>
          <a:xfrm>
            <a:off x="3414317" y="3887876"/>
            <a:ext cx="36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Auth</a:t>
            </a:r>
          </a:p>
        </p:txBody>
      </p:sp>
      <p:cxnSp>
        <p:nvCxnSpPr>
          <p:cNvPr id="16" name="Straight Connector 15">
            <a:extLst>
              <a:ext uri="{FF2B5EF4-FFF2-40B4-BE49-F238E27FC236}">
                <a16:creationId xmlns:a16="http://schemas.microsoft.com/office/drawing/2014/main" id="{4A1835A8-07EC-7EC2-9C20-7BAD2A91F742}"/>
              </a:ext>
            </a:extLst>
          </p:cNvPr>
          <p:cNvCxnSpPr>
            <a:cxnSpLocks/>
            <a:stCxn id="15" idx="2"/>
            <a:endCxn id="10" idx="0"/>
          </p:cNvCxnSpPr>
          <p:nvPr/>
        </p:nvCxnSpPr>
        <p:spPr>
          <a:xfrm flipH="1">
            <a:off x="3305618" y="4247876"/>
            <a:ext cx="288699" cy="1722443"/>
          </a:xfrm>
          <a:prstGeom prst="line">
            <a:avLst/>
          </a:prstGeom>
          <a:ln>
            <a:prstDash val="lgDash"/>
          </a:ln>
        </p:spPr>
        <p:style>
          <a:lnRef idx="2">
            <a:schemeClr val="accent6"/>
          </a:lnRef>
          <a:fillRef idx="0">
            <a:schemeClr val="accent6"/>
          </a:fillRef>
          <a:effectRef idx="1">
            <a:schemeClr val="accent6"/>
          </a:effectRef>
          <a:fontRef idx="minor">
            <a:schemeClr val="tx1"/>
          </a:fontRef>
        </p:style>
      </p:cxnSp>
      <p:sp>
        <p:nvSpPr>
          <p:cNvPr id="21" name="Rectangle: Rounded Corners 20">
            <a:extLst>
              <a:ext uri="{FF2B5EF4-FFF2-40B4-BE49-F238E27FC236}">
                <a16:creationId xmlns:a16="http://schemas.microsoft.com/office/drawing/2014/main" id="{90FC0BDA-67BD-50B5-6F36-5A8426B3AC73}"/>
              </a:ext>
            </a:extLst>
          </p:cNvPr>
          <p:cNvSpPr/>
          <p:nvPr/>
        </p:nvSpPr>
        <p:spPr>
          <a:xfrm>
            <a:off x="6705169" y="3357280"/>
            <a:ext cx="144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Web Resources</a:t>
            </a:r>
          </a:p>
        </p:txBody>
      </p:sp>
      <p:sp>
        <p:nvSpPr>
          <p:cNvPr id="22" name="Rectangle: Rounded Corners 21">
            <a:extLst>
              <a:ext uri="{FF2B5EF4-FFF2-40B4-BE49-F238E27FC236}">
                <a16:creationId xmlns:a16="http://schemas.microsoft.com/office/drawing/2014/main" id="{43003A6B-B266-2945-0B16-AFEF83F5D2CA}"/>
              </a:ext>
            </a:extLst>
          </p:cNvPr>
          <p:cNvSpPr/>
          <p:nvPr/>
        </p:nvSpPr>
        <p:spPr>
          <a:xfrm>
            <a:off x="8483489" y="3465064"/>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DB</a:t>
            </a:r>
          </a:p>
        </p:txBody>
      </p:sp>
      <p:sp>
        <p:nvSpPr>
          <p:cNvPr id="25" name="Rectangle 24">
            <a:extLst>
              <a:ext uri="{FF2B5EF4-FFF2-40B4-BE49-F238E27FC236}">
                <a16:creationId xmlns:a16="http://schemas.microsoft.com/office/drawing/2014/main" id="{CE1B5A9A-8A94-DC3B-131D-25A51FDDE4AD}"/>
              </a:ext>
            </a:extLst>
          </p:cNvPr>
          <p:cNvSpPr/>
          <p:nvPr/>
        </p:nvSpPr>
        <p:spPr>
          <a:xfrm>
            <a:off x="5023066" y="4473872"/>
            <a:ext cx="4941331" cy="1047325"/>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App Domain</a:t>
            </a:r>
          </a:p>
        </p:txBody>
      </p:sp>
      <p:sp>
        <p:nvSpPr>
          <p:cNvPr id="26" name="Rectangle: Rounded Corners 25">
            <a:extLst>
              <a:ext uri="{FF2B5EF4-FFF2-40B4-BE49-F238E27FC236}">
                <a16:creationId xmlns:a16="http://schemas.microsoft.com/office/drawing/2014/main" id="{F1D740C0-D227-E36A-4C24-0C2D682701C4}"/>
              </a:ext>
            </a:extLst>
          </p:cNvPr>
          <p:cNvSpPr/>
          <p:nvPr/>
        </p:nvSpPr>
        <p:spPr>
          <a:xfrm>
            <a:off x="5167721" y="4784012"/>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Gateway</a:t>
            </a:r>
          </a:p>
        </p:txBody>
      </p:sp>
      <p:sp>
        <p:nvSpPr>
          <p:cNvPr id="27" name="Rectangle: Rounded Corners 26">
            <a:extLst>
              <a:ext uri="{FF2B5EF4-FFF2-40B4-BE49-F238E27FC236}">
                <a16:creationId xmlns:a16="http://schemas.microsoft.com/office/drawing/2014/main" id="{624F2ED6-7D9B-54FC-A25A-574238397C63}"/>
              </a:ext>
            </a:extLst>
          </p:cNvPr>
          <p:cNvSpPr/>
          <p:nvPr/>
        </p:nvSpPr>
        <p:spPr>
          <a:xfrm>
            <a:off x="6705169" y="4676228"/>
            <a:ext cx="144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Web Resources</a:t>
            </a:r>
          </a:p>
        </p:txBody>
      </p:sp>
      <p:sp>
        <p:nvSpPr>
          <p:cNvPr id="28" name="Rectangle: Rounded Corners 27">
            <a:extLst>
              <a:ext uri="{FF2B5EF4-FFF2-40B4-BE49-F238E27FC236}">
                <a16:creationId xmlns:a16="http://schemas.microsoft.com/office/drawing/2014/main" id="{40DB72D3-ECC6-C427-AE70-5CF854293E9D}"/>
              </a:ext>
            </a:extLst>
          </p:cNvPr>
          <p:cNvSpPr/>
          <p:nvPr/>
        </p:nvSpPr>
        <p:spPr>
          <a:xfrm>
            <a:off x="8483489" y="4784012"/>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DB</a:t>
            </a:r>
          </a:p>
        </p:txBody>
      </p:sp>
      <p:cxnSp>
        <p:nvCxnSpPr>
          <p:cNvPr id="29" name="Straight Connector 28">
            <a:extLst>
              <a:ext uri="{FF2B5EF4-FFF2-40B4-BE49-F238E27FC236}">
                <a16:creationId xmlns:a16="http://schemas.microsoft.com/office/drawing/2014/main" id="{0E2D2930-7922-9DC8-495A-FED611F2EC12}"/>
              </a:ext>
            </a:extLst>
          </p:cNvPr>
          <p:cNvCxnSpPr>
            <a:cxnSpLocks/>
            <a:stCxn id="6" idx="3"/>
            <a:endCxn id="7" idx="1"/>
          </p:cNvCxnSpPr>
          <p:nvPr/>
        </p:nvCxnSpPr>
        <p:spPr>
          <a:xfrm>
            <a:off x="3845618" y="3735064"/>
            <a:ext cx="132210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EB2A6AF4-B284-AC62-B46E-B7104F03F142}"/>
              </a:ext>
            </a:extLst>
          </p:cNvPr>
          <p:cNvCxnSpPr>
            <a:cxnSpLocks/>
            <a:stCxn id="6" idx="3"/>
            <a:endCxn id="26" idx="1"/>
          </p:cNvCxnSpPr>
          <p:nvPr/>
        </p:nvCxnSpPr>
        <p:spPr>
          <a:xfrm>
            <a:off x="3845618" y="3735064"/>
            <a:ext cx="1322103" cy="131894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EDDECC74-5DF4-AD5E-93AC-44D6F7BB1D6B}"/>
              </a:ext>
            </a:extLst>
          </p:cNvPr>
          <p:cNvCxnSpPr>
            <a:cxnSpLocks/>
            <a:stCxn id="48" idx="2"/>
            <a:endCxn id="10" idx="0"/>
          </p:cNvCxnSpPr>
          <p:nvPr/>
        </p:nvCxnSpPr>
        <p:spPr>
          <a:xfrm rot="5400000">
            <a:off x="4441752" y="2986902"/>
            <a:ext cx="1847284" cy="4119551"/>
          </a:xfrm>
          <a:prstGeom prst="curvedConnector3">
            <a:avLst>
              <a:gd name="adj1" fmla="val 12528"/>
            </a:avLst>
          </a:prstGeom>
          <a:ln>
            <a:prstDash val="lgDash"/>
          </a:ln>
        </p:spPr>
        <p:style>
          <a:lnRef idx="2">
            <a:schemeClr val="accent6"/>
          </a:lnRef>
          <a:fillRef idx="0">
            <a:schemeClr val="accent6"/>
          </a:fillRef>
          <a:effectRef idx="1">
            <a:schemeClr val="accent6"/>
          </a:effectRef>
          <a:fontRef idx="minor">
            <a:schemeClr val="tx1"/>
          </a:fontRef>
        </p:style>
      </p:cxnSp>
      <p:cxnSp>
        <p:nvCxnSpPr>
          <p:cNvPr id="38" name="Straight Connector 37">
            <a:extLst>
              <a:ext uri="{FF2B5EF4-FFF2-40B4-BE49-F238E27FC236}">
                <a16:creationId xmlns:a16="http://schemas.microsoft.com/office/drawing/2014/main" id="{0ADE8154-ABBA-28E2-E117-AF3A4D0CB364}"/>
              </a:ext>
            </a:extLst>
          </p:cNvPr>
          <p:cNvCxnSpPr>
            <a:cxnSpLocks/>
            <a:stCxn id="49" idx="2"/>
            <a:endCxn id="10" idx="0"/>
          </p:cNvCxnSpPr>
          <p:nvPr/>
        </p:nvCxnSpPr>
        <p:spPr>
          <a:xfrm rot="5400000">
            <a:off x="5101226" y="3646376"/>
            <a:ext cx="528336" cy="4119551"/>
          </a:xfrm>
          <a:prstGeom prst="curvedConnector3">
            <a:avLst>
              <a:gd name="adj1" fmla="val 50000"/>
            </a:avLst>
          </a:prstGeom>
          <a:ln>
            <a:prstDash val="lgDash"/>
          </a:ln>
        </p:spPr>
        <p:style>
          <a:lnRef idx="2">
            <a:schemeClr val="accent6"/>
          </a:lnRef>
          <a:fillRef idx="0">
            <a:schemeClr val="accent6"/>
          </a:fillRef>
          <a:effectRef idx="1">
            <a:schemeClr val="accent6"/>
          </a:effectRef>
          <a:fontRef idx="minor">
            <a:schemeClr val="tx1"/>
          </a:fontRef>
        </p:style>
      </p:cxnSp>
      <p:sp>
        <p:nvSpPr>
          <p:cNvPr id="44" name="Rectangle 43">
            <a:extLst>
              <a:ext uri="{FF2B5EF4-FFF2-40B4-BE49-F238E27FC236}">
                <a16:creationId xmlns:a16="http://schemas.microsoft.com/office/drawing/2014/main" id="{8C5C377A-71DF-5E85-10E8-AEC476A1D4E7}"/>
              </a:ext>
            </a:extLst>
          </p:cNvPr>
          <p:cNvSpPr/>
          <p:nvPr/>
        </p:nvSpPr>
        <p:spPr>
          <a:xfrm>
            <a:off x="3324317" y="5487407"/>
            <a:ext cx="108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End user Authentication</a:t>
            </a:r>
          </a:p>
        </p:txBody>
      </p:sp>
      <p:sp>
        <p:nvSpPr>
          <p:cNvPr id="46" name="Rectangle 45">
            <a:extLst>
              <a:ext uri="{FF2B5EF4-FFF2-40B4-BE49-F238E27FC236}">
                <a16:creationId xmlns:a16="http://schemas.microsoft.com/office/drawing/2014/main" id="{6C3F08C8-9DBA-5365-22D3-CC1D31947348}"/>
              </a:ext>
            </a:extLst>
          </p:cNvPr>
          <p:cNvSpPr/>
          <p:nvPr/>
        </p:nvSpPr>
        <p:spPr>
          <a:xfrm>
            <a:off x="4052071" y="3830719"/>
            <a:ext cx="108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Internal </a:t>
            </a:r>
            <a:br>
              <a:rPr lang="en-AU" sz="1200" dirty="0"/>
            </a:br>
            <a:r>
              <a:rPr lang="en-AU" sz="1200" dirty="0"/>
              <a:t>App traffic</a:t>
            </a:r>
          </a:p>
        </p:txBody>
      </p:sp>
      <p:sp>
        <p:nvSpPr>
          <p:cNvPr id="48" name="Rectangle: Rounded Corners 47">
            <a:extLst>
              <a:ext uri="{FF2B5EF4-FFF2-40B4-BE49-F238E27FC236}">
                <a16:creationId xmlns:a16="http://schemas.microsoft.com/office/drawing/2014/main" id="{FDE53EED-2573-03CF-E23C-F4F84EF52AE0}"/>
              </a:ext>
            </a:extLst>
          </p:cNvPr>
          <p:cNvSpPr/>
          <p:nvPr/>
        </p:nvSpPr>
        <p:spPr>
          <a:xfrm>
            <a:off x="6705169" y="3763035"/>
            <a:ext cx="144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Functions</a:t>
            </a:r>
          </a:p>
        </p:txBody>
      </p:sp>
      <p:sp>
        <p:nvSpPr>
          <p:cNvPr id="49" name="Rectangle: Rounded Corners 48">
            <a:extLst>
              <a:ext uri="{FF2B5EF4-FFF2-40B4-BE49-F238E27FC236}">
                <a16:creationId xmlns:a16="http://schemas.microsoft.com/office/drawing/2014/main" id="{89AC4106-AC8D-50A7-33D3-B31CCE8404B5}"/>
              </a:ext>
            </a:extLst>
          </p:cNvPr>
          <p:cNvSpPr/>
          <p:nvPr/>
        </p:nvSpPr>
        <p:spPr>
          <a:xfrm>
            <a:off x="6705169" y="5081983"/>
            <a:ext cx="144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Functions</a:t>
            </a:r>
          </a:p>
        </p:txBody>
      </p:sp>
      <p:cxnSp>
        <p:nvCxnSpPr>
          <p:cNvPr id="50" name="Straight Connector 49">
            <a:extLst>
              <a:ext uri="{FF2B5EF4-FFF2-40B4-BE49-F238E27FC236}">
                <a16:creationId xmlns:a16="http://schemas.microsoft.com/office/drawing/2014/main" id="{36EDB83A-0472-5FDF-E978-5CE15308B910}"/>
              </a:ext>
            </a:extLst>
          </p:cNvPr>
          <p:cNvCxnSpPr>
            <a:cxnSpLocks/>
            <a:stCxn id="7" idx="3"/>
            <a:endCxn id="21" idx="1"/>
          </p:cNvCxnSpPr>
          <p:nvPr/>
        </p:nvCxnSpPr>
        <p:spPr>
          <a:xfrm flipV="1">
            <a:off x="6247721" y="3537280"/>
            <a:ext cx="457448" cy="197784"/>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AED9A754-4F4E-B714-71B6-6447B2ACE31C}"/>
              </a:ext>
            </a:extLst>
          </p:cNvPr>
          <p:cNvCxnSpPr>
            <a:cxnSpLocks/>
            <a:stCxn id="7" idx="3"/>
            <a:endCxn id="48" idx="1"/>
          </p:cNvCxnSpPr>
          <p:nvPr/>
        </p:nvCxnSpPr>
        <p:spPr>
          <a:xfrm>
            <a:off x="6247721" y="3735064"/>
            <a:ext cx="457448" cy="207971"/>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584CCA8A-77B0-B107-C5B9-2325EA18CBDC}"/>
              </a:ext>
            </a:extLst>
          </p:cNvPr>
          <p:cNvCxnSpPr>
            <a:cxnSpLocks/>
            <a:stCxn id="26" idx="3"/>
            <a:endCxn id="27" idx="1"/>
          </p:cNvCxnSpPr>
          <p:nvPr/>
        </p:nvCxnSpPr>
        <p:spPr>
          <a:xfrm flipV="1">
            <a:off x="6247721" y="4856228"/>
            <a:ext cx="457448" cy="197784"/>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77E49B69-7F5D-F94D-DD05-8CAD8C12FEFB}"/>
              </a:ext>
            </a:extLst>
          </p:cNvPr>
          <p:cNvCxnSpPr>
            <a:cxnSpLocks/>
            <a:stCxn id="26" idx="3"/>
            <a:endCxn id="49" idx="1"/>
          </p:cNvCxnSpPr>
          <p:nvPr/>
        </p:nvCxnSpPr>
        <p:spPr>
          <a:xfrm>
            <a:off x="6247721" y="5054012"/>
            <a:ext cx="457448" cy="207971"/>
          </a:xfrm>
          <a:prstGeom prst="line">
            <a:avLst/>
          </a:prstGeom>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1F61EBD6-0624-50E2-EBA0-D2CF356AED80}"/>
              </a:ext>
            </a:extLst>
          </p:cNvPr>
          <p:cNvCxnSpPr>
            <a:cxnSpLocks/>
            <a:stCxn id="49" idx="3"/>
            <a:endCxn id="28" idx="1"/>
          </p:cNvCxnSpPr>
          <p:nvPr/>
        </p:nvCxnSpPr>
        <p:spPr>
          <a:xfrm flipV="1">
            <a:off x="8145169" y="5054012"/>
            <a:ext cx="338320" cy="207971"/>
          </a:xfrm>
          <a:prstGeom prst="line">
            <a:avLst/>
          </a:prstGeom>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2CAF4E23-472C-3D5B-3921-57847ADD118A}"/>
              </a:ext>
            </a:extLst>
          </p:cNvPr>
          <p:cNvCxnSpPr>
            <a:cxnSpLocks/>
            <a:stCxn id="48" idx="3"/>
            <a:endCxn id="22" idx="1"/>
          </p:cNvCxnSpPr>
          <p:nvPr/>
        </p:nvCxnSpPr>
        <p:spPr>
          <a:xfrm flipV="1">
            <a:off x="8145169" y="3735064"/>
            <a:ext cx="338320" cy="207971"/>
          </a:xfrm>
          <a:prstGeom prst="line">
            <a:avLst/>
          </a:prstGeom>
        </p:spPr>
        <p:style>
          <a:lnRef idx="2">
            <a:schemeClr val="accent1"/>
          </a:lnRef>
          <a:fillRef idx="0">
            <a:schemeClr val="accent1"/>
          </a:fillRef>
          <a:effectRef idx="1">
            <a:schemeClr val="accent1"/>
          </a:effectRef>
          <a:fontRef idx="minor">
            <a:schemeClr val="tx1"/>
          </a:fontRef>
        </p:style>
      </p:cxnSp>
      <p:sp>
        <p:nvSpPr>
          <p:cNvPr id="76" name="Rectangle 75">
            <a:extLst>
              <a:ext uri="{FF2B5EF4-FFF2-40B4-BE49-F238E27FC236}">
                <a16:creationId xmlns:a16="http://schemas.microsoft.com/office/drawing/2014/main" id="{27EA0AFE-8743-D286-B43D-F35E8504BDC4}"/>
              </a:ext>
            </a:extLst>
          </p:cNvPr>
          <p:cNvSpPr/>
          <p:nvPr/>
        </p:nvSpPr>
        <p:spPr>
          <a:xfrm>
            <a:off x="715763" y="4005064"/>
            <a:ext cx="691716" cy="329265"/>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Users</a:t>
            </a:r>
          </a:p>
        </p:txBody>
      </p:sp>
    </p:spTree>
    <p:extLst>
      <p:ext uri="{BB962C8B-B14F-4D97-AF65-F5344CB8AC3E}">
        <p14:creationId xmlns:p14="http://schemas.microsoft.com/office/powerpoint/2010/main" val="2165108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FC0A2-41E5-7351-8C7C-EE558BAA69E9}"/>
            </a:ext>
          </a:extLst>
        </p:cNvPr>
        <p:cNvGrpSpPr/>
        <p:nvPr/>
      </p:nvGrpSpPr>
      <p:grpSpPr>
        <a:xfrm>
          <a:off x="0" y="0"/>
          <a:ext cx="0" cy="0"/>
          <a:chOff x="0" y="0"/>
          <a:chExt cx="0" cy="0"/>
        </a:xfrm>
      </p:grpSpPr>
      <p:sp>
        <p:nvSpPr>
          <p:cNvPr id="71" name="Rectangle 70">
            <a:extLst>
              <a:ext uri="{FF2B5EF4-FFF2-40B4-BE49-F238E27FC236}">
                <a16:creationId xmlns:a16="http://schemas.microsoft.com/office/drawing/2014/main" id="{3FBED623-1384-E840-63CB-9DD3C52A3D4E}"/>
              </a:ext>
            </a:extLst>
          </p:cNvPr>
          <p:cNvSpPr/>
          <p:nvPr/>
        </p:nvSpPr>
        <p:spPr>
          <a:xfrm>
            <a:off x="697163" y="2296874"/>
            <a:ext cx="8831398" cy="3742871"/>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Org Boundary</a:t>
            </a:r>
          </a:p>
        </p:txBody>
      </p:sp>
      <p:sp>
        <p:nvSpPr>
          <p:cNvPr id="24" name="Rectangle 23">
            <a:extLst>
              <a:ext uri="{FF2B5EF4-FFF2-40B4-BE49-F238E27FC236}">
                <a16:creationId xmlns:a16="http://schemas.microsoft.com/office/drawing/2014/main" id="{8789EB18-4511-5062-F4CF-6E7F7CB5A3C1}"/>
              </a:ext>
            </a:extLst>
          </p:cNvPr>
          <p:cNvSpPr/>
          <p:nvPr/>
        </p:nvSpPr>
        <p:spPr>
          <a:xfrm>
            <a:off x="834269" y="2906491"/>
            <a:ext cx="4454219" cy="1047325"/>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App Domain</a:t>
            </a:r>
          </a:p>
        </p:txBody>
      </p:sp>
      <p:sp>
        <p:nvSpPr>
          <p:cNvPr id="2" name="Title 1">
            <a:extLst>
              <a:ext uri="{FF2B5EF4-FFF2-40B4-BE49-F238E27FC236}">
                <a16:creationId xmlns:a16="http://schemas.microsoft.com/office/drawing/2014/main" id="{8D76DA40-BBCD-84FE-49A2-F288643C70A9}"/>
              </a:ext>
            </a:extLst>
          </p:cNvPr>
          <p:cNvSpPr>
            <a:spLocks noGrp="1"/>
          </p:cNvSpPr>
          <p:nvPr>
            <p:ph type="title"/>
          </p:nvPr>
        </p:nvSpPr>
        <p:spPr/>
        <p:txBody>
          <a:bodyPr/>
          <a:lstStyle/>
          <a:p>
            <a:r>
              <a:rPr lang="en-AU" dirty="0"/>
              <a:t>Federated Support Architecture</a:t>
            </a:r>
          </a:p>
        </p:txBody>
      </p:sp>
      <p:sp>
        <p:nvSpPr>
          <p:cNvPr id="3" name="Content Placeholder 2">
            <a:extLst>
              <a:ext uri="{FF2B5EF4-FFF2-40B4-BE49-F238E27FC236}">
                <a16:creationId xmlns:a16="http://schemas.microsoft.com/office/drawing/2014/main" id="{9C4DC6AC-D697-F667-0442-89FA6D1B1623}"/>
              </a:ext>
            </a:extLst>
          </p:cNvPr>
          <p:cNvSpPr>
            <a:spLocks noGrp="1"/>
          </p:cNvSpPr>
          <p:nvPr>
            <p:ph idx="1"/>
          </p:nvPr>
        </p:nvSpPr>
        <p:spPr>
          <a:xfrm>
            <a:off x="346645" y="856525"/>
            <a:ext cx="11355976" cy="1262832"/>
          </a:xfrm>
        </p:spPr>
        <p:txBody>
          <a:bodyPr>
            <a:normAutofit fontScale="92500" lnSpcReduction="10000"/>
          </a:bodyPr>
          <a:lstStyle/>
          <a:p>
            <a:pPr>
              <a:lnSpc>
                <a:spcPct val="120000"/>
              </a:lnSpc>
              <a:spcBef>
                <a:spcPts val="600"/>
              </a:spcBef>
            </a:pPr>
            <a:r>
              <a:rPr lang="en-AU" sz="1600" dirty="0"/>
              <a:t>App support staff has admin access to only the App domain they support.</a:t>
            </a:r>
          </a:p>
          <a:p>
            <a:pPr>
              <a:lnSpc>
                <a:spcPct val="120000"/>
              </a:lnSpc>
              <a:spcBef>
                <a:spcPts val="600"/>
              </a:spcBef>
            </a:pPr>
            <a:r>
              <a:rPr lang="en-AU" sz="1600" dirty="0"/>
              <a:t>Org Admin staff have higher level access to make changes to shared resources.</a:t>
            </a:r>
          </a:p>
          <a:p>
            <a:pPr>
              <a:lnSpc>
                <a:spcPct val="120000"/>
              </a:lnSpc>
              <a:spcBef>
                <a:spcPts val="600"/>
              </a:spcBef>
            </a:pPr>
            <a:r>
              <a:rPr lang="en-AU" sz="1600" dirty="0"/>
              <a:t>If an app require changes to shared resources, the app support staff create deployment scripts and ask the org admin to deploy it after proving it through testing.</a:t>
            </a:r>
          </a:p>
        </p:txBody>
      </p:sp>
      <p:pic>
        <p:nvPicPr>
          <p:cNvPr id="5" name="Graphic 4" descr="User with solid fill">
            <a:extLst>
              <a:ext uri="{FF2B5EF4-FFF2-40B4-BE49-F238E27FC236}">
                <a16:creationId xmlns:a16="http://schemas.microsoft.com/office/drawing/2014/main" id="{C55D2DA3-68CD-2EF2-D62E-56C2B76E4537}"/>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11114087" y="2577957"/>
            <a:ext cx="479426" cy="520701"/>
          </a:xfrm>
          <a:prstGeom prst="rect">
            <a:avLst/>
          </a:prstGeom>
        </p:spPr>
      </p:pic>
      <p:sp>
        <p:nvSpPr>
          <p:cNvPr id="6" name="Rectangle: Rounded Corners 5">
            <a:extLst>
              <a:ext uri="{FF2B5EF4-FFF2-40B4-BE49-F238E27FC236}">
                <a16:creationId xmlns:a16="http://schemas.microsoft.com/office/drawing/2014/main" id="{3BF3FA15-EE86-F857-FFF0-933477FA3965}"/>
              </a:ext>
            </a:extLst>
          </p:cNvPr>
          <p:cNvSpPr/>
          <p:nvPr/>
        </p:nvSpPr>
        <p:spPr>
          <a:xfrm>
            <a:off x="3875915" y="4639292"/>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CDN</a:t>
            </a:r>
          </a:p>
        </p:txBody>
      </p:sp>
      <p:sp>
        <p:nvSpPr>
          <p:cNvPr id="7" name="Rectangle: Rounded Corners 6">
            <a:extLst>
              <a:ext uri="{FF2B5EF4-FFF2-40B4-BE49-F238E27FC236}">
                <a16:creationId xmlns:a16="http://schemas.microsoft.com/office/drawing/2014/main" id="{14456FCB-0E10-AC8F-2357-6A1AB8BA57F5}"/>
              </a:ext>
            </a:extLst>
          </p:cNvPr>
          <p:cNvSpPr/>
          <p:nvPr/>
        </p:nvSpPr>
        <p:spPr>
          <a:xfrm>
            <a:off x="978924" y="3216631"/>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Gateway</a:t>
            </a:r>
          </a:p>
        </p:txBody>
      </p:sp>
      <p:sp>
        <p:nvSpPr>
          <p:cNvPr id="8" name="Rectangle: Rounded Corners 7">
            <a:extLst>
              <a:ext uri="{FF2B5EF4-FFF2-40B4-BE49-F238E27FC236}">
                <a16:creationId xmlns:a16="http://schemas.microsoft.com/office/drawing/2014/main" id="{268612A7-3172-AB98-19CA-163ACEFC74E4}"/>
              </a:ext>
            </a:extLst>
          </p:cNvPr>
          <p:cNvSpPr/>
          <p:nvPr/>
        </p:nvSpPr>
        <p:spPr>
          <a:xfrm>
            <a:off x="3978185" y="5058278"/>
            <a:ext cx="36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SSL</a:t>
            </a:r>
          </a:p>
        </p:txBody>
      </p:sp>
      <p:sp>
        <p:nvSpPr>
          <p:cNvPr id="10" name="Rectangle: Rounded Corners 9">
            <a:extLst>
              <a:ext uri="{FF2B5EF4-FFF2-40B4-BE49-F238E27FC236}">
                <a16:creationId xmlns:a16="http://schemas.microsoft.com/office/drawing/2014/main" id="{DDFDC534-41E9-3065-A4FE-089FECA2C2BF}"/>
              </a:ext>
            </a:extLst>
          </p:cNvPr>
          <p:cNvSpPr/>
          <p:nvPr/>
        </p:nvSpPr>
        <p:spPr>
          <a:xfrm>
            <a:off x="8176310" y="2577957"/>
            <a:ext cx="1080000" cy="3344280"/>
          </a:xfrm>
          <a:prstGeom prst="roundRect">
            <a:avLst/>
          </a:prstGeom>
        </p:spPr>
        <p:style>
          <a:lnRef idx="1">
            <a:schemeClr val="accent6"/>
          </a:lnRef>
          <a:fillRef idx="2">
            <a:schemeClr val="accent6"/>
          </a:fillRef>
          <a:effectRef idx="1">
            <a:schemeClr val="accent6"/>
          </a:effectRef>
          <a:fontRef idx="minor">
            <a:schemeClr val="dk1"/>
          </a:fontRef>
        </p:style>
        <p:txBody>
          <a:bodyPr lIns="0" tIns="0" rIns="0" bIns="0" rtlCol="0" anchor="b"/>
          <a:lstStyle/>
          <a:p>
            <a:pPr algn="ctr"/>
            <a:r>
              <a:rPr lang="en-AU" sz="1600" dirty="0"/>
              <a:t>Entra ID</a:t>
            </a:r>
          </a:p>
        </p:txBody>
      </p:sp>
      <p:cxnSp>
        <p:nvCxnSpPr>
          <p:cNvPr id="11" name="Straight Connector 10">
            <a:extLst>
              <a:ext uri="{FF2B5EF4-FFF2-40B4-BE49-F238E27FC236}">
                <a16:creationId xmlns:a16="http://schemas.microsoft.com/office/drawing/2014/main" id="{47412B42-B54B-D609-328F-BB255226655F}"/>
              </a:ext>
            </a:extLst>
          </p:cNvPr>
          <p:cNvCxnSpPr>
            <a:cxnSpLocks/>
            <a:stCxn id="5" idx="1"/>
            <a:endCxn id="23" idx="3"/>
          </p:cNvCxnSpPr>
          <p:nvPr/>
        </p:nvCxnSpPr>
        <p:spPr>
          <a:xfrm flipH="1">
            <a:off x="9256310" y="2838308"/>
            <a:ext cx="1857777" cy="175598"/>
          </a:xfrm>
          <a:prstGeom prst="line">
            <a:avLst/>
          </a:prstGeom>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99E211F1-31AA-AC8F-6D89-3B58FC4B714B}"/>
              </a:ext>
            </a:extLst>
          </p:cNvPr>
          <p:cNvSpPr/>
          <p:nvPr/>
        </p:nvSpPr>
        <p:spPr>
          <a:xfrm rot="21160059">
            <a:off x="9589695" y="2556931"/>
            <a:ext cx="1080000" cy="329265"/>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App Clickops / Terraform IaC</a:t>
            </a:r>
          </a:p>
        </p:txBody>
      </p:sp>
      <p:sp>
        <p:nvSpPr>
          <p:cNvPr id="15" name="Rectangle: Rounded Corners 14">
            <a:extLst>
              <a:ext uri="{FF2B5EF4-FFF2-40B4-BE49-F238E27FC236}">
                <a16:creationId xmlns:a16="http://schemas.microsoft.com/office/drawing/2014/main" id="{EAB71BB8-C6C3-92FA-5A82-59A13365CA03}"/>
              </a:ext>
            </a:extLst>
          </p:cNvPr>
          <p:cNvSpPr/>
          <p:nvPr/>
        </p:nvSpPr>
        <p:spPr>
          <a:xfrm>
            <a:off x="4524614" y="5062104"/>
            <a:ext cx="36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Auth</a:t>
            </a:r>
          </a:p>
        </p:txBody>
      </p:sp>
      <p:sp>
        <p:nvSpPr>
          <p:cNvPr id="21" name="Rectangle: Rounded Corners 20">
            <a:extLst>
              <a:ext uri="{FF2B5EF4-FFF2-40B4-BE49-F238E27FC236}">
                <a16:creationId xmlns:a16="http://schemas.microsoft.com/office/drawing/2014/main" id="{52291606-DCAA-6EB0-0C3C-500E43A92E5A}"/>
              </a:ext>
            </a:extLst>
          </p:cNvPr>
          <p:cNvSpPr/>
          <p:nvPr/>
        </p:nvSpPr>
        <p:spPr>
          <a:xfrm>
            <a:off x="2516372" y="3108847"/>
            <a:ext cx="144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Web Resources</a:t>
            </a:r>
          </a:p>
        </p:txBody>
      </p:sp>
      <p:sp>
        <p:nvSpPr>
          <p:cNvPr id="22" name="Rectangle: Rounded Corners 21">
            <a:extLst>
              <a:ext uri="{FF2B5EF4-FFF2-40B4-BE49-F238E27FC236}">
                <a16:creationId xmlns:a16="http://schemas.microsoft.com/office/drawing/2014/main" id="{EF9804AF-9D11-07CD-9872-02C38AF25DFA}"/>
              </a:ext>
            </a:extLst>
          </p:cNvPr>
          <p:cNvSpPr/>
          <p:nvPr/>
        </p:nvSpPr>
        <p:spPr>
          <a:xfrm>
            <a:off x="4217778" y="3216631"/>
            <a:ext cx="90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DB</a:t>
            </a:r>
          </a:p>
        </p:txBody>
      </p:sp>
      <p:sp>
        <p:nvSpPr>
          <p:cNvPr id="48" name="Rectangle: Rounded Corners 47">
            <a:extLst>
              <a:ext uri="{FF2B5EF4-FFF2-40B4-BE49-F238E27FC236}">
                <a16:creationId xmlns:a16="http://schemas.microsoft.com/office/drawing/2014/main" id="{23E83A2A-6010-E72C-EE6A-FB7DFDABEFA3}"/>
              </a:ext>
            </a:extLst>
          </p:cNvPr>
          <p:cNvSpPr/>
          <p:nvPr/>
        </p:nvSpPr>
        <p:spPr>
          <a:xfrm>
            <a:off x="2516372" y="3514602"/>
            <a:ext cx="144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App Functions</a:t>
            </a:r>
          </a:p>
        </p:txBody>
      </p:sp>
      <p:cxnSp>
        <p:nvCxnSpPr>
          <p:cNvPr id="50" name="Straight Connector 49">
            <a:extLst>
              <a:ext uri="{FF2B5EF4-FFF2-40B4-BE49-F238E27FC236}">
                <a16:creationId xmlns:a16="http://schemas.microsoft.com/office/drawing/2014/main" id="{CF0AE2DB-470D-6218-CD85-7CDEB897606D}"/>
              </a:ext>
            </a:extLst>
          </p:cNvPr>
          <p:cNvCxnSpPr>
            <a:cxnSpLocks/>
            <a:stCxn id="7" idx="3"/>
            <a:endCxn id="21" idx="1"/>
          </p:cNvCxnSpPr>
          <p:nvPr/>
        </p:nvCxnSpPr>
        <p:spPr>
          <a:xfrm flipV="1">
            <a:off x="2058924" y="3288847"/>
            <a:ext cx="457448" cy="197784"/>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6AA03284-367E-37B5-E838-033E17DD3DF0}"/>
              </a:ext>
            </a:extLst>
          </p:cNvPr>
          <p:cNvCxnSpPr>
            <a:cxnSpLocks/>
            <a:stCxn id="7" idx="3"/>
            <a:endCxn id="48" idx="1"/>
          </p:cNvCxnSpPr>
          <p:nvPr/>
        </p:nvCxnSpPr>
        <p:spPr>
          <a:xfrm>
            <a:off x="2058924" y="3486631"/>
            <a:ext cx="457448" cy="207971"/>
          </a:xfrm>
          <a:prstGeom prst="line">
            <a:avLst/>
          </a:prstGeom>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83AD6B67-8C07-A0B7-D08C-DD9024DDBB82}"/>
              </a:ext>
            </a:extLst>
          </p:cNvPr>
          <p:cNvCxnSpPr>
            <a:cxnSpLocks/>
            <a:stCxn id="48" idx="3"/>
            <a:endCxn id="22" idx="1"/>
          </p:cNvCxnSpPr>
          <p:nvPr/>
        </p:nvCxnSpPr>
        <p:spPr>
          <a:xfrm flipV="1">
            <a:off x="3956372" y="3486631"/>
            <a:ext cx="261406" cy="207971"/>
          </a:xfrm>
          <a:prstGeom prst="line">
            <a:avLst/>
          </a:prstGeom>
        </p:spPr>
        <p:style>
          <a:lnRef idx="2">
            <a:schemeClr val="accent1"/>
          </a:lnRef>
          <a:fillRef idx="0">
            <a:schemeClr val="accent1"/>
          </a:fillRef>
          <a:effectRef idx="1">
            <a:schemeClr val="accent1"/>
          </a:effectRef>
          <a:fontRef idx="minor">
            <a:schemeClr val="tx1"/>
          </a:fontRef>
        </p:style>
      </p:cxnSp>
      <p:sp>
        <p:nvSpPr>
          <p:cNvPr id="76" name="Rectangle 75">
            <a:extLst>
              <a:ext uri="{FF2B5EF4-FFF2-40B4-BE49-F238E27FC236}">
                <a16:creationId xmlns:a16="http://schemas.microsoft.com/office/drawing/2014/main" id="{6FD507AB-2E3D-2178-94AA-3F058D25251A}"/>
              </a:ext>
            </a:extLst>
          </p:cNvPr>
          <p:cNvSpPr/>
          <p:nvPr/>
        </p:nvSpPr>
        <p:spPr>
          <a:xfrm>
            <a:off x="10854112" y="2296874"/>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App Support</a:t>
            </a:r>
            <a:br>
              <a:rPr lang="en-AU" sz="1200" dirty="0"/>
            </a:br>
            <a:r>
              <a:rPr lang="en-AU" sz="1200" dirty="0"/>
              <a:t>Technician</a:t>
            </a:r>
          </a:p>
        </p:txBody>
      </p:sp>
      <p:sp>
        <p:nvSpPr>
          <p:cNvPr id="23" name="Rectangle: Rounded Corners 22">
            <a:extLst>
              <a:ext uri="{FF2B5EF4-FFF2-40B4-BE49-F238E27FC236}">
                <a16:creationId xmlns:a16="http://schemas.microsoft.com/office/drawing/2014/main" id="{552458F2-5BBD-63B4-211A-339F6524CB0F}"/>
              </a:ext>
            </a:extLst>
          </p:cNvPr>
          <p:cNvSpPr/>
          <p:nvPr/>
        </p:nvSpPr>
        <p:spPr>
          <a:xfrm>
            <a:off x="8176310" y="2743906"/>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Azure Console</a:t>
            </a:r>
          </a:p>
        </p:txBody>
      </p:sp>
      <p:sp>
        <p:nvSpPr>
          <p:cNvPr id="30" name="Rectangle: Rounded Corners 29">
            <a:extLst>
              <a:ext uri="{FF2B5EF4-FFF2-40B4-BE49-F238E27FC236}">
                <a16:creationId xmlns:a16="http://schemas.microsoft.com/office/drawing/2014/main" id="{0C500A3F-2ADD-02A3-7943-C16C39B58000}"/>
              </a:ext>
            </a:extLst>
          </p:cNvPr>
          <p:cNvSpPr/>
          <p:nvPr/>
        </p:nvSpPr>
        <p:spPr>
          <a:xfrm>
            <a:off x="8176310" y="4130074"/>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AWS Console</a:t>
            </a:r>
          </a:p>
        </p:txBody>
      </p:sp>
      <p:cxnSp>
        <p:nvCxnSpPr>
          <p:cNvPr id="33" name="Straight Connector 32">
            <a:extLst>
              <a:ext uri="{FF2B5EF4-FFF2-40B4-BE49-F238E27FC236}">
                <a16:creationId xmlns:a16="http://schemas.microsoft.com/office/drawing/2014/main" id="{0D4C7222-2D11-B119-ABF7-8F7E66B33CB9}"/>
              </a:ext>
            </a:extLst>
          </p:cNvPr>
          <p:cNvCxnSpPr>
            <a:cxnSpLocks/>
            <a:stCxn id="94" idx="1"/>
            <a:endCxn id="30" idx="3"/>
          </p:cNvCxnSpPr>
          <p:nvPr/>
        </p:nvCxnSpPr>
        <p:spPr>
          <a:xfrm flipH="1" flipV="1">
            <a:off x="9256310" y="4400074"/>
            <a:ext cx="1857777" cy="9650"/>
          </a:xfrm>
          <a:prstGeom prst="line">
            <a:avLst/>
          </a:prstGeom>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2FBB2AFD-7AD6-F7FA-371F-1E0A0400449B}"/>
              </a:ext>
            </a:extLst>
          </p:cNvPr>
          <p:cNvSpPr/>
          <p:nvPr/>
        </p:nvSpPr>
        <p:spPr>
          <a:xfrm>
            <a:off x="8164387" y="3553906"/>
            <a:ext cx="108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Privileged Account Authentication</a:t>
            </a:r>
          </a:p>
        </p:txBody>
      </p:sp>
      <p:cxnSp>
        <p:nvCxnSpPr>
          <p:cNvPr id="63" name="Straight Connector 62">
            <a:extLst>
              <a:ext uri="{FF2B5EF4-FFF2-40B4-BE49-F238E27FC236}">
                <a16:creationId xmlns:a16="http://schemas.microsoft.com/office/drawing/2014/main" id="{01477EBB-A7D4-D1E9-D547-1EABD2F03B2F}"/>
              </a:ext>
            </a:extLst>
          </p:cNvPr>
          <p:cNvCxnSpPr>
            <a:cxnSpLocks/>
            <a:stCxn id="23" idx="1"/>
            <a:endCxn id="24" idx="3"/>
          </p:cNvCxnSpPr>
          <p:nvPr/>
        </p:nvCxnSpPr>
        <p:spPr>
          <a:xfrm flipH="1">
            <a:off x="5288488" y="3013906"/>
            <a:ext cx="2887822" cy="416248"/>
          </a:xfrm>
          <a:prstGeom prst="line">
            <a:avLst/>
          </a:prstGeom>
        </p:spPr>
        <p:style>
          <a:lnRef idx="2">
            <a:schemeClr val="accent1"/>
          </a:lnRef>
          <a:fillRef idx="0">
            <a:schemeClr val="accent1"/>
          </a:fillRef>
          <a:effectRef idx="1">
            <a:schemeClr val="accent1"/>
          </a:effectRef>
          <a:fontRef idx="minor">
            <a:schemeClr val="tx1"/>
          </a:fontRef>
        </p:style>
      </p:cxnSp>
      <p:sp>
        <p:nvSpPr>
          <p:cNvPr id="68" name="Rectangle 67">
            <a:extLst>
              <a:ext uri="{FF2B5EF4-FFF2-40B4-BE49-F238E27FC236}">
                <a16:creationId xmlns:a16="http://schemas.microsoft.com/office/drawing/2014/main" id="{0110068E-C3EF-DC65-E3EA-13924B646288}"/>
              </a:ext>
            </a:extLst>
          </p:cNvPr>
          <p:cNvSpPr/>
          <p:nvPr/>
        </p:nvSpPr>
        <p:spPr>
          <a:xfrm>
            <a:off x="5555999" y="2928847"/>
            <a:ext cx="1870295" cy="121958"/>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App Resource group </a:t>
            </a:r>
            <a:br>
              <a:rPr lang="en-AU" sz="1200" dirty="0"/>
            </a:br>
            <a:r>
              <a:rPr lang="en-AU" sz="1200" dirty="0"/>
              <a:t>Admin PIM</a:t>
            </a:r>
          </a:p>
        </p:txBody>
      </p:sp>
      <p:cxnSp>
        <p:nvCxnSpPr>
          <p:cNvPr id="69" name="Straight Connector 68">
            <a:extLst>
              <a:ext uri="{FF2B5EF4-FFF2-40B4-BE49-F238E27FC236}">
                <a16:creationId xmlns:a16="http://schemas.microsoft.com/office/drawing/2014/main" id="{BF6AE54A-1863-EEA1-9FA1-9B1631A5E546}"/>
              </a:ext>
            </a:extLst>
          </p:cNvPr>
          <p:cNvCxnSpPr>
            <a:cxnSpLocks/>
            <a:stCxn id="30" idx="1"/>
            <a:endCxn id="6" idx="3"/>
          </p:cNvCxnSpPr>
          <p:nvPr/>
        </p:nvCxnSpPr>
        <p:spPr>
          <a:xfrm flipH="1">
            <a:off x="4955915" y="4400074"/>
            <a:ext cx="3220395" cy="509218"/>
          </a:xfrm>
          <a:prstGeom prst="line">
            <a:avLst/>
          </a:prstGeom>
        </p:spPr>
        <p:style>
          <a:lnRef idx="2">
            <a:schemeClr val="accent1"/>
          </a:lnRef>
          <a:fillRef idx="0">
            <a:schemeClr val="accent1"/>
          </a:fillRef>
          <a:effectRef idx="1">
            <a:schemeClr val="accent1"/>
          </a:effectRef>
          <a:fontRef idx="minor">
            <a:schemeClr val="tx1"/>
          </a:fontRef>
        </p:style>
      </p:cxnSp>
      <p:sp>
        <p:nvSpPr>
          <p:cNvPr id="73" name="Rectangle 72">
            <a:extLst>
              <a:ext uri="{FF2B5EF4-FFF2-40B4-BE49-F238E27FC236}">
                <a16:creationId xmlns:a16="http://schemas.microsoft.com/office/drawing/2014/main" id="{F97A0D2F-5C9D-B67B-D9A8-E822BB4EFB10}"/>
              </a:ext>
            </a:extLst>
          </p:cNvPr>
          <p:cNvSpPr/>
          <p:nvPr/>
        </p:nvSpPr>
        <p:spPr>
          <a:xfrm>
            <a:off x="7135175" y="4166959"/>
            <a:ext cx="108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Global Admin Role</a:t>
            </a:r>
          </a:p>
        </p:txBody>
      </p:sp>
      <p:sp>
        <p:nvSpPr>
          <p:cNvPr id="77" name="Rectangle: Rounded Corners 76">
            <a:extLst>
              <a:ext uri="{FF2B5EF4-FFF2-40B4-BE49-F238E27FC236}">
                <a16:creationId xmlns:a16="http://schemas.microsoft.com/office/drawing/2014/main" id="{00812520-92A2-9790-6C93-68AC53242D45}"/>
              </a:ext>
            </a:extLst>
          </p:cNvPr>
          <p:cNvSpPr/>
          <p:nvPr/>
        </p:nvSpPr>
        <p:spPr>
          <a:xfrm>
            <a:off x="8176310" y="4792104"/>
            <a:ext cx="108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600" dirty="0"/>
              <a:t>GitHub Actions</a:t>
            </a:r>
          </a:p>
        </p:txBody>
      </p:sp>
      <p:cxnSp>
        <p:nvCxnSpPr>
          <p:cNvPr id="78" name="Straight Connector 77">
            <a:extLst>
              <a:ext uri="{FF2B5EF4-FFF2-40B4-BE49-F238E27FC236}">
                <a16:creationId xmlns:a16="http://schemas.microsoft.com/office/drawing/2014/main" id="{938E9876-1803-433F-1919-6E2BED81FDF1}"/>
              </a:ext>
            </a:extLst>
          </p:cNvPr>
          <p:cNvCxnSpPr>
            <a:cxnSpLocks/>
            <a:stCxn id="94" idx="1"/>
            <a:endCxn id="13" idx="3"/>
          </p:cNvCxnSpPr>
          <p:nvPr/>
        </p:nvCxnSpPr>
        <p:spPr>
          <a:xfrm flipH="1">
            <a:off x="10353800" y="4409724"/>
            <a:ext cx="760287" cy="704493"/>
          </a:xfrm>
          <a:prstGeom prst="line">
            <a:avLst/>
          </a:prstGeom>
        </p:spPr>
        <p:style>
          <a:lnRef idx="2">
            <a:schemeClr val="accent5"/>
          </a:lnRef>
          <a:fillRef idx="0">
            <a:schemeClr val="accent5"/>
          </a:fillRef>
          <a:effectRef idx="1">
            <a:schemeClr val="accent5"/>
          </a:effectRef>
          <a:fontRef idx="minor">
            <a:schemeClr val="tx1"/>
          </a:fontRef>
        </p:style>
      </p:cxnSp>
      <p:cxnSp>
        <p:nvCxnSpPr>
          <p:cNvPr id="82" name="Straight Connector 81">
            <a:extLst>
              <a:ext uri="{FF2B5EF4-FFF2-40B4-BE49-F238E27FC236}">
                <a16:creationId xmlns:a16="http://schemas.microsoft.com/office/drawing/2014/main" id="{A1BA5F53-A586-A6BA-7132-A20F24D8DEB2}"/>
              </a:ext>
            </a:extLst>
          </p:cNvPr>
          <p:cNvCxnSpPr>
            <a:cxnSpLocks/>
            <a:stCxn id="77" idx="1"/>
            <a:endCxn id="6" idx="3"/>
          </p:cNvCxnSpPr>
          <p:nvPr/>
        </p:nvCxnSpPr>
        <p:spPr>
          <a:xfrm flipH="1" flipV="1">
            <a:off x="4955915" y="4909292"/>
            <a:ext cx="3220395" cy="152812"/>
          </a:xfrm>
          <a:prstGeom prst="line">
            <a:avLst/>
          </a:prstGeom>
        </p:spPr>
        <p:style>
          <a:lnRef idx="2">
            <a:schemeClr val="accent5"/>
          </a:lnRef>
          <a:fillRef idx="0">
            <a:schemeClr val="accent5"/>
          </a:fillRef>
          <a:effectRef idx="1">
            <a:schemeClr val="accent5"/>
          </a:effectRef>
          <a:fontRef idx="minor">
            <a:schemeClr val="tx1"/>
          </a:fontRef>
        </p:style>
      </p:cxnSp>
      <p:cxnSp>
        <p:nvCxnSpPr>
          <p:cNvPr id="85" name="Straight Connector 84">
            <a:extLst>
              <a:ext uri="{FF2B5EF4-FFF2-40B4-BE49-F238E27FC236}">
                <a16:creationId xmlns:a16="http://schemas.microsoft.com/office/drawing/2014/main" id="{3F3061F4-B646-42F3-C36B-94C9100D08DD}"/>
              </a:ext>
            </a:extLst>
          </p:cNvPr>
          <p:cNvCxnSpPr>
            <a:cxnSpLocks/>
            <a:stCxn id="77" idx="1"/>
            <a:endCxn id="24" idx="3"/>
          </p:cNvCxnSpPr>
          <p:nvPr/>
        </p:nvCxnSpPr>
        <p:spPr>
          <a:xfrm flipH="1" flipV="1">
            <a:off x="5288488" y="3430154"/>
            <a:ext cx="2887822" cy="1631950"/>
          </a:xfrm>
          <a:prstGeom prst="line">
            <a:avLst/>
          </a:prstGeom>
        </p:spPr>
        <p:style>
          <a:lnRef idx="2">
            <a:schemeClr val="accent5"/>
          </a:lnRef>
          <a:fillRef idx="0">
            <a:schemeClr val="accent5"/>
          </a:fillRef>
          <a:effectRef idx="1">
            <a:schemeClr val="accent5"/>
          </a:effectRef>
          <a:fontRef idx="minor">
            <a:schemeClr val="tx1"/>
          </a:fontRef>
        </p:style>
      </p:cxnSp>
      <p:sp>
        <p:nvSpPr>
          <p:cNvPr id="88" name="Rectangle 87">
            <a:extLst>
              <a:ext uri="{FF2B5EF4-FFF2-40B4-BE49-F238E27FC236}">
                <a16:creationId xmlns:a16="http://schemas.microsoft.com/office/drawing/2014/main" id="{EA61C062-EBB0-E08B-8328-F0FEC30B5A0F}"/>
              </a:ext>
            </a:extLst>
          </p:cNvPr>
          <p:cNvSpPr/>
          <p:nvPr/>
        </p:nvSpPr>
        <p:spPr>
          <a:xfrm>
            <a:off x="7079207" y="5355550"/>
            <a:ext cx="108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Service Principal with Global Admin Role</a:t>
            </a:r>
          </a:p>
        </p:txBody>
      </p:sp>
      <p:sp>
        <p:nvSpPr>
          <p:cNvPr id="89" name="Rectangle 88">
            <a:extLst>
              <a:ext uri="{FF2B5EF4-FFF2-40B4-BE49-F238E27FC236}">
                <a16:creationId xmlns:a16="http://schemas.microsoft.com/office/drawing/2014/main" id="{D380A006-C84D-72A5-587B-65DD163BF022}"/>
              </a:ext>
            </a:extLst>
          </p:cNvPr>
          <p:cNvSpPr/>
          <p:nvPr/>
        </p:nvSpPr>
        <p:spPr>
          <a:xfrm>
            <a:off x="10273800" y="5380610"/>
            <a:ext cx="1080000" cy="329265"/>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Automated </a:t>
            </a:r>
          </a:p>
          <a:p>
            <a:pPr algn="ctr"/>
            <a:r>
              <a:rPr lang="en-AU" sz="1200" dirty="0"/>
              <a:t>Deployment</a:t>
            </a:r>
          </a:p>
        </p:txBody>
      </p:sp>
      <p:pic>
        <p:nvPicPr>
          <p:cNvPr id="94" name="Graphic 93" descr="User with solid fill">
            <a:extLst>
              <a:ext uri="{FF2B5EF4-FFF2-40B4-BE49-F238E27FC236}">
                <a16:creationId xmlns:a16="http://schemas.microsoft.com/office/drawing/2014/main" id="{15765D76-6754-78C4-2AA2-6D96E3227F05}"/>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11114087" y="4149373"/>
            <a:ext cx="479426" cy="520701"/>
          </a:xfrm>
          <a:prstGeom prst="rect">
            <a:avLst/>
          </a:prstGeom>
        </p:spPr>
      </p:pic>
      <p:sp>
        <p:nvSpPr>
          <p:cNvPr id="95" name="Rectangle 94">
            <a:extLst>
              <a:ext uri="{FF2B5EF4-FFF2-40B4-BE49-F238E27FC236}">
                <a16:creationId xmlns:a16="http://schemas.microsoft.com/office/drawing/2014/main" id="{BAD67DBE-B99C-F446-D3E6-8C9ED5C5B4A7}"/>
              </a:ext>
            </a:extLst>
          </p:cNvPr>
          <p:cNvSpPr/>
          <p:nvPr/>
        </p:nvSpPr>
        <p:spPr>
          <a:xfrm>
            <a:off x="10854112" y="3868290"/>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Org Admin Technician</a:t>
            </a:r>
          </a:p>
        </p:txBody>
      </p:sp>
      <p:sp>
        <p:nvSpPr>
          <p:cNvPr id="101" name="Rectangle 100">
            <a:extLst>
              <a:ext uri="{FF2B5EF4-FFF2-40B4-BE49-F238E27FC236}">
                <a16:creationId xmlns:a16="http://schemas.microsoft.com/office/drawing/2014/main" id="{F37DAF49-DB4D-999C-5127-5947DB36877C}"/>
              </a:ext>
            </a:extLst>
          </p:cNvPr>
          <p:cNvSpPr/>
          <p:nvPr/>
        </p:nvSpPr>
        <p:spPr>
          <a:xfrm>
            <a:off x="9606291" y="4017694"/>
            <a:ext cx="1080000" cy="329265"/>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Global Clickops / Terraform IaC</a:t>
            </a:r>
          </a:p>
        </p:txBody>
      </p:sp>
      <p:sp>
        <p:nvSpPr>
          <p:cNvPr id="13" name="Rectangle: Rounded Corners 12">
            <a:extLst>
              <a:ext uri="{FF2B5EF4-FFF2-40B4-BE49-F238E27FC236}">
                <a16:creationId xmlns:a16="http://schemas.microsoft.com/office/drawing/2014/main" id="{38D04FD1-ACA8-F095-4481-82CB657F6377}"/>
              </a:ext>
            </a:extLst>
          </p:cNvPr>
          <p:cNvSpPr/>
          <p:nvPr/>
        </p:nvSpPr>
        <p:spPr>
          <a:xfrm>
            <a:off x="9627691" y="4822618"/>
            <a:ext cx="726109" cy="583197"/>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400" dirty="0"/>
              <a:t>Zen Installer</a:t>
            </a:r>
          </a:p>
        </p:txBody>
      </p:sp>
      <p:cxnSp>
        <p:nvCxnSpPr>
          <p:cNvPr id="19" name="Straight Connector 18">
            <a:extLst>
              <a:ext uri="{FF2B5EF4-FFF2-40B4-BE49-F238E27FC236}">
                <a16:creationId xmlns:a16="http://schemas.microsoft.com/office/drawing/2014/main" id="{E1DDD8E2-CCE5-A1DF-3D61-E43B5E480C06}"/>
              </a:ext>
            </a:extLst>
          </p:cNvPr>
          <p:cNvCxnSpPr>
            <a:cxnSpLocks/>
            <a:stCxn id="13" idx="1"/>
            <a:endCxn id="77" idx="3"/>
          </p:cNvCxnSpPr>
          <p:nvPr/>
        </p:nvCxnSpPr>
        <p:spPr>
          <a:xfrm flipH="1" flipV="1">
            <a:off x="9256310" y="5062104"/>
            <a:ext cx="371381" cy="52113"/>
          </a:xfrm>
          <a:prstGeom prst="line">
            <a:avLst/>
          </a:prstGeom>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3965249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26A6-2580-3B78-1048-4780E2E92BCF}"/>
              </a:ext>
            </a:extLst>
          </p:cNvPr>
          <p:cNvSpPr>
            <a:spLocks noGrp="1"/>
          </p:cNvSpPr>
          <p:nvPr>
            <p:ph type="title"/>
          </p:nvPr>
        </p:nvSpPr>
        <p:spPr/>
        <p:txBody>
          <a:bodyPr>
            <a:normAutofit/>
          </a:bodyPr>
          <a:lstStyle/>
          <a:p>
            <a:r>
              <a:rPr lang="en-AU" dirty="0"/>
              <a:t>Consumer AI</a:t>
            </a:r>
          </a:p>
        </p:txBody>
      </p:sp>
      <p:sp>
        <p:nvSpPr>
          <p:cNvPr id="3" name="Content Placeholder 2">
            <a:extLst>
              <a:ext uri="{FF2B5EF4-FFF2-40B4-BE49-F238E27FC236}">
                <a16:creationId xmlns:a16="http://schemas.microsoft.com/office/drawing/2014/main" id="{E8C81E1E-F3CB-AF12-87B0-F328B4DCE6A6}"/>
              </a:ext>
            </a:extLst>
          </p:cNvPr>
          <p:cNvSpPr>
            <a:spLocks noGrp="1"/>
          </p:cNvSpPr>
          <p:nvPr>
            <p:ph idx="1"/>
          </p:nvPr>
        </p:nvSpPr>
        <p:spPr>
          <a:xfrm>
            <a:off x="348343" y="856525"/>
            <a:ext cx="11355977" cy="1746525"/>
          </a:xfrm>
        </p:spPr>
        <p:txBody>
          <a:bodyPr>
            <a:normAutofit fontScale="92500"/>
          </a:bodyPr>
          <a:lstStyle/>
          <a:p>
            <a:pPr>
              <a:lnSpc>
                <a:spcPct val="120000"/>
              </a:lnSpc>
              <a:spcBef>
                <a:spcPts val="600"/>
              </a:spcBef>
            </a:pPr>
            <a:r>
              <a:rPr lang="en-AU" sz="1600" dirty="0"/>
              <a:t>Consumers sign up to the Zenme ecosystem at any of the hosting providers. </a:t>
            </a:r>
            <a:br>
              <a:rPr lang="en-AU" sz="1600" dirty="0"/>
            </a:br>
            <a:r>
              <a:rPr lang="en-AU" sz="1600" dirty="0"/>
              <a:t>They can transfer their data from one to another hosting provider through the Zenme framework.</a:t>
            </a:r>
          </a:p>
          <a:p>
            <a:pPr>
              <a:lnSpc>
                <a:spcPct val="120000"/>
              </a:lnSpc>
              <a:spcBef>
                <a:spcPts val="600"/>
              </a:spcBef>
            </a:pPr>
            <a:r>
              <a:rPr lang="en-AU" sz="1600" dirty="0"/>
              <a:t>Hosting providers deploy the Zenme framework using ZenInstaller. They decide which of the apps and AIs from GitHub they want to provide on their host environment.</a:t>
            </a:r>
          </a:p>
          <a:p>
            <a:pPr>
              <a:lnSpc>
                <a:spcPct val="120000"/>
              </a:lnSpc>
              <a:spcBef>
                <a:spcPts val="600"/>
              </a:spcBef>
            </a:pPr>
            <a:r>
              <a:rPr lang="en-AU" sz="1600" dirty="0"/>
              <a:t>Developers publish their apps and AI models to GitHub and register them with the Zenme framework for inclusion in ZenInstaller.</a:t>
            </a:r>
          </a:p>
        </p:txBody>
      </p:sp>
      <p:sp>
        <p:nvSpPr>
          <p:cNvPr id="4" name="Rectangle 3">
            <a:extLst>
              <a:ext uri="{FF2B5EF4-FFF2-40B4-BE49-F238E27FC236}">
                <a16:creationId xmlns:a16="http://schemas.microsoft.com/office/drawing/2014/main" id="{8D710C09-2439-DF54-E1E1-86C165107CF6}"/>
              </a:ext>
            </a:extLst>
          </p:cNvPr>
          <p:cNvSpPr/>
          <p:nvPr/>
        </p:nvSpPr>
        <p:spPr>
          <a:xfrm>
            <a:off x="5830206" y="4032482"/>
            <a:ext cx="1730185" cy="1194370"/>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Zenme Org Boundary</a:t>
            </a:r>
          </a:p>
        </p:txBody>
      </p:sp>
      <p:pic>
        <p:nvPicPr>
          <p:cNvPr id="5" name="Graphic 4" descr="User with solid fill">
            <a:extLst>
              <a:ext uri="{FF2B5EF4-FFF2-40B4-BE49-F238E27FC236}">
                <a16:creationId xmlns:a16="http://schemas.microsoft.com/office/drawing/2014/main" id="{B9870A59-F85F-D4ED-1AAE-04B7FA98D31B}"/>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561033" y="3235201"/>
            <a:ext cx="479426" cy="520701"/>
          </a:xfrm>
          <a:prstGeom prst="rect">
            <a:avLst/>
          </a:prstGeom>
        </p:spPr>
      </p:pic>
      <p:sp>
        <p:nvSpPr>
          <p:cNvPr id="6" name="Rectangle: Rounded Corners 5">
            <a:extLst>
              <a:ext uri="{FF2B5EF4-FFF2-40B4-BE49-F238E27FC236}">
                <a16:creationId xmlns:a16="http://schemas.microsoft.com/office/drawing/2014/main" id="{7B491F7C-57AA-D4C8-AD2F-5239EE0DEE51}"/>
              </a:ext>
            </a:extLst>
          </p:cNvPr>
          <p:cNvSpPr/>
          <p:nvPr/>
        </p:nvSpPr>
        <p:spPr>
          <a:xfrm>
            <a:off x="5975298" y="4442295"/>
            <a:ext cx="144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400" dirty="0"/>
              <a:t>ZenInstaller</a:t>
            </a:r>
          </a:p>
        </p:txBody>
      </p:sp>
      <p:sp>
        <p:nvSpPr>
          <p:cNvPr id="15" name="Rectangle 14">
            <a:extLst>
              <a:ext uri="{FF2B5EF4-FFF2-40B4-BE49-F238E27FC236}">
                <a16:creationId xmlns:a16="http://schemas.microsoft.com/office/drawing/2014/main" id="{2B3CF1A1-4A32-59C0-CF4F-FBD1DA48AC88}"/>
              </a:ext>
            </a:extLst>
          </p:cNvPr>
          <p:cNvSpPr/>
          <p:nvPr/>
        </p:nvSpPr>
        <p:spPr>
          <a:xfrm>
            <a:off x="2660020" y="2769565"/>
            <a:ext cx="1730185" cy="1735622"/>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Host A Org Boundary</a:t>
            </a:r>
          </a:p>
        </p:txBody>
      </p:sp>
      <p:sp>
        <p:nvSpPr>
          <p:cNvPr id="16" name="Rectangle: Rounded Corners 15">
            <a:extLst>
              <a:ext uri="{FF2B5EF4-FFF2-40B4-BE49-F238E27FC236}">
                <a16:creationId xmlns:a16="http://schemas.microsoft.com/office/drawing/2014/main" id="{61A400A9-87D6-976E-5068-D45A2B235B01}"/>
              </a:ext>
            </a:extLst>
          </p:cNvPr>
          <p:cNvSpPr/>
          <p:nvPr/>
        </p:nvSpPr>
        <p:spPr>
          <a:xfrm>
            <a:off x="2805112" y="3179378"/>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Zenme Framework</a:t>
            </a:r>
          </a:p>
        </p:txBody>
      </p:sp>
      <p:sp>
        <p:nvSpPr>
          <p:cNvPr id="18" name="Rectangle 17">
            <a:extLst>
              <a:ext uri="{FF2B5EF4-FFF2-40B4-BE49-F238E27FC236}">
                <a16:creationId xmlns:a16="http://schemas.microsoft.com/office/drawing/2014/main" id="{B8C59B00-0141-66A9-4775-D5458F090527}"/>
              </a:ext>
            </a:extLst>
          </p:cNvPr>
          <p:cNvSpPr/>
          <p:nvPr/>
        </p:nvSpPr>
        <p:spPr>
          <a:xfrm>
            <a:off x="8012213" y="2751980"/>
            <a:ext cx="1730185" cy="3803323"/>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GitHub</a:t>
            </a:r>
          </a:p>
        </p:txBody>
      </p:sp>
      <p:sp>
        <p:nvSpPr>
          <p:cNvPr id="21" name="Rectangle: Rounded Corners 20">
            <a:extLst>
              <a:ext uri="{FF2B5EF4-FFF2-40B4-BE49-F238E27FC236}">
                <a16:creationId xmlns:a16="http://schemas.microsoft.com/office/drawing/2014/main" id="{23C2CF97-78DA-9600-7E8E-D3FFCCA483E9}"/>
              </a:ext>
            </a:extLst>
          </p:cNvPr>
          <p:cNvSpPr/>
          <p:nvPr/>
        </p:nvSpPr>
        <p:spPr>
          <a:xfrm>
            <a:off x="8157305" y="3757609"/>
            <a:ext cx="144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400" dirty="0"/>
              <a:t>Zenme App</a:t>
            </a:r>
          </a:p>
        </p:txBody>
      </p:sp>
      <p:sp>
        <p:nvSpPr>
          <p:cNvPr id="22" name="Rectangle: Rounded Corners 21">
            <a:extLst>
              <a:ext uri="{FF2B5EF4-FFF2-40B4-BE49-F238E27FC236}">
                <a16:creationId xmlns:a16="http://schemas.microsoft.com/office/drawing/2014/main" id="{9BB33B42-FD87-E7F9-C2AA-036C65510234}"/>
              </a:ext>
            </a:extLst>
          </p:cNvPr>
          <p:cNvSpPr/>
          <p:nvPr/>
        </p:nvSpPr>
        <p:spPr>
          <a:xfrm>
            <a:off x="8157305" y="4469400"/>
            <a:ext cx="144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400" dirty="0"/>
              <a:t>Zenme AI </a:t>
            </a:r>
          </a:p>
        </p:txBody>
      </p:sp>
      <p:sp>
        <p:nvSpPr>
          <p:cNvPr id="23" name="Rectangle: Rounded Corners 22">
            <a:extLst>
              <a:ext uri="{FF2B5EF4-FFF2-40B4-BE49-F238E27FC236}">
                <a16:creationId xmlns:a16="http://schemas.microsoft.com/office/drawing/2014/main" id="{4A65BFAA-A508-4A30-B987-EC5439F91BDA}"/>
              </a:ext>
            </a:extLst>
          </p:cNvPr>
          <p:cNvSpPr/>
          <p:nvPr/>
        </p:nvSpPr>
        <p:spPr>
          <a:xfrm>
            <a:off x="8157305" y="3045818"/>
            <a:ext cx="144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400" dirty="0"/>
              <a:t>Zenme Framework</a:t>
            </a:r>
          </a:p>
        </p:txBody>
      </p:sp>
      <p:sp>
        <p:nvSpPr>
          <p:cNvPr id="24" name="Rectangle: Rounded Corners 23">
            <a:extLst>
              <a:ext uri="{FF2B5EF4-FFF2-40B4-BE49-F238E27FC236}">
                <a16:creationId xmlns:a16="http://schemas.microsoft.com/office/drawing/2014/main" id="{DFC0DCAC-8D6F-60E5-1D7D-29759058F2A0}"/>
              </a:ext>
            </a:extLst>
          </p:cNvPr>
          <p:cNvSpPr/>
          <p:nvPr/>
        </p:nvSpPr>
        <p:spPr>
          <a:xfrm>
            <a:off x="8157305" y="5181191"/>
            <a:ext cx="144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400" dirty="0"/>
              <a:t>Abc AI </a:t>
            </a:r>
          </a:p>
        </p:txBody>
      </p:sp>
      <p:sp>
        <p:nvSpPr>
          <p:cNvPr id="25" name="Rectangle: Rounded Corners 24">
            <a:extLst>
              <a:ext uri="{FF2B5EF4-FFF2-40B4-BE49-F238E27FC236}">
                <a16:creationId xmlns:a16="http://schemas.microsoft.com/office/drawing/2014/main" id="{7E57C625-8045-93BB-BAB5-E636295AC54B}"/>
              </a:ext>
            </a:extLst>
          </p:cNvPr>
          <p:cNvSpPr/>
          <p:nvPr/>
        </p:nvSpPr>
        <p:spPr>
          <a:xfrm>
            <a:off x="8157305" y="5892981"/>
            <a:ext cx="1440000" cy="54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400" dirty="0"/>
              <a:t>Xyz App / AI </a:t>
            </a:r>
          </a:p>
        </p:txBody>
      </p:sp>
      <p:pic>
        <p:nvPicPr>
          <p:cNvPr id="27" name="Graphic 26" descr="User with solid fill">
            <a:extLst>
              <a:ext uri="{FF2B5EF4-FFF2-40B4-BE49-F238E27FC236}">
                <a16:creationId xmlns:a16="http://schemas.microsoft.com/office/drawing/2014/main" id="{6F195FC8-1803-92EF-4F14-8B7A5CB0E3FF}"/>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11064399" y="3433676"/>
            <a:ext cx="479426" cy="520701"/>
          </a:xfrm>
          <a:prstGeom prst="rect">
            <a:avLst/>
          </a:prstGeom>
        </p:spPr>
      </p:pic>
      <p:sp>
        <p:nvSpPr>
          <p:cNvPr id="31" name="Rectangle 30">
            <a:extLst>
              <a:ext uri="{FF2B5EF4-FFF2-40B4-BE49-F238E27FC236}">
                <a16:creationId xmlns:a16="http://schemas.microsoft.com/office/drawing/2014/main" id="{2F8BAECC-2BDC-9771-856C-58313CA1BB60}"/>
              </a:ext>
            </a:extLst>
          </p:cNvPr>
          <p:cNvSpPr/>
          <p:nvPr/>
        </p:nvSpPr>
        <p:spPr>
          <a:xfrm>
            <a:off x="10854112" y="3152680"/>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Zenme Developer</a:t>
            </a:r>
          </a:p>
        </p:txBody>
      </p:sp>
      <p:pic>
        <p:nvPicPr>
          <p:cNvPr id="32" name="Graphic 31" descr="User with solid fill">
            <a:extLst>
              <a:ext uri="{FF2B5EF4-FFF2-40B4-BE49-F238E27FC236}">
                <a16:creationId xmlns:a16="http://schemas.microsoft.com/office/drawing/2014/main" id="{F78F9301-A800-835B-92DB-A0156F5F8312}"/>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11064399" y="4689292"/>
            <a:ext cx="479426" cy="520701"/>
          </a:xfrm>
          <a:prstGeom prst="rect">
            <a:avLst/>
          </a:prstGeom>
        </p:spPr>
      </p:pic>
      <p:sp>
        <p:nvSpPr>
          <p:cNvPr id="33" name="Rectangle 32">
            <a:extLst>
              <a:ext uri="{FF2B5EF4-FFF2-40B4-BE49-F238E27FC236}">
                <a16:creationId xmlns:a16="http://schemas.microsoft.com/office/drawing/2014/main" id="{53DDDB71-B573-F3D6-973F-163DFBC4507A}"/>
              </a:ext>
            </a:extLst>
          </p:cNvPr>
          <p:cNvSpPr/>
          <p:nvPr/>
        </p:nvSpPr>
        <p:spPr>
          <a:xfrm>
            <a:off x="10854112" y="4408296"/>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Abc Developer</a:t>
            </a:r>
          </a:p>
        </p:txBody>
      </p:sp>
      <p:pic>
        <p:nvPicPr>
          <p:cNvPr id="34" name="Graphic 33" descr="User with solid fill">
            <a:extLst>
              <a:ext uri="{FF2B5EF4-FFF2-40B4-BE49-F238E27FC236}">
                <a16:creationId xmlns:a16="http://schemas.microsoft.com/office/drawing/2014/main" id="{C89A7CAA-EC2F-72D3-1119-E0FC8DDC79A8}"/>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11064399" y="5963909"/>
            <a:ext cx="479426" cy="520701"/>
          </a:xfrm>
          <a:prstGeom prst="rect">
            <a:avLst/>
          </a:prstGeom>
        </p:spPr>
      </p:pic>
      <p:sp>
        <p:nvSpPr>
          <p:cNvPr id="35" name="Rectangle 34">
            <a:extLst>
              <a:ext uri="{FF2B5EF4-FFF2-40B4-BE49-F238E27FC236}">
                <a16:creationId xmlns:a16="http://schemas.microsoft.com/office/drawing/2014/main" id="{229B3F67-D4E3-4C0A-9775-46E183D84A7D}"/>
              </a:ext>
            </a:extLst>
          </p:cNvPr>
          <p:cNvSpPr/>
          <p:nvPr/>
        </p:nvSpPr>
        <p:spPr>
          <a:xfrm>
            <a:off x="10854112" y="5682913"/>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Xyz Developer</a:t>
            </a:r>
          </a:p>
        </p:txBody>
      </p:sp>
      <p:cxnSp>
        <p:nvCxnSpPr>
          <p:cNvPr id="36" name="Straight Connector 35">
            <a:extLst>
              <a:ext uri="{FF2B5EF4-FFF2-40B4-BE49-F238E27FC236}">
                <a16:creationId xmlns:a16="http://schemas.microsoft.com/office/drawing/2014/main" id="{2EF15B87-FDC6-8EA3-F178-48E6CA2D791F}"/>
              </a:ext>
            </a:extLst>
          </p:cNvPr>
          <p:cNvCxnSpPr>
            <a:cxnSpLocks/>
            <a:stCxn id="27" idx="1"/>
            <a:endCxn id="23" idx="3"/>
          </p:cNvCxnSpPr>
          <p:nvPr/>
        </p:nvCxnSpPr>
        <p:spPr>
          <a:xfrm flipH="1" flipV="1">
            <a:off x="9597305" y="3315818"/>
            <a:ext cx="1467094" cy="378209"/>
          </a:xfrm>
          <a:prstGeom prst="line">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39" name="Straight Connector 38">
            <a:extLst>
              <a:ext uri="{FF2B5EF4-FFF2-40B4-BE49-F238E27FC236}">
                <a16:creationId xmlns:a16="http://schemas.microsoft.com/office/drawing/2014/main" id="{BFAE4A1E-90E1-5B30-33C5-0E675BD89C69}"/>
              </a:ext>
            </a:extLst>
          </p:cNvPr>
          <p:cNvCxnSpPr>
            <a:cxnSpLocks/>
            <a:stCxn id="27" idx="1"/>
            <a:endCxn id="21" idx="3"/>
          </p:cNvCxnSpPr>
          <p:nvPr/>
        </p:nvCxnSpPr>
        <p:spPr>
          <a:xfrm flipH="1">
            <a:off x="9597305" y="3694027"/>
            <a:ext cx="1467094" cy="333582"/>
          </a:xfrm>
          <a:prstGeom prst="line">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41" name="Straight Connector 40">
            <a:extLst>
              <a:ext uri="{FF2B5EF4-FFF2-40B4-BE49-F238E27FC236}">
                <a16:creationId xmlns:a16="http://schemas.microsoft.com/office/drawing/2014/main" id="{37051140-62FB-7338-1908-0A659C889645}"/>
              </a:ext>
            </a:extLst>
          </p:cNvPr>
          <p:cNvCxnSpPr>
            <a:cxnSpLocks/>
            <a:stCxn id="27" idx="1"/>
            <a:endCxn id="22" idx="3"/>
          </p:cNvCxnSpPr>
          <p:nvPr/>
        </p:nvCxnSpPr>
        <p:spPr>
          <a:xfrm flipH="1">
            <a:off x="9597305" y="3694027"/>
            <a:ext cx="1467094" cy="1045373"/>
          </a:xfrm>
          <a:prstGeom prst="line">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43" name="Straight Connector 42">
            <a:extLst>
              <a:ext uri="{FF2B5EF4-FFF2-40B4-BE49-F238E27FC236}">
                <a16:creationId xmlns:a16="http://schemas.microsoft.com/office/drawing/2014/main" id="{BC64E114-6516-FC4A-6594-7C33EC8FE5FD}"/>
              </a:ext>
            </a:extLst>
          </p:cNvPr>
          <p:cNvCxnSpPr>
            <a:cxnSpLocks/>
            <a:stCxn id="32" idx="1"/>
            <a:endCxn id="24" idx="3"/>
          </p:cNvCxnSpPr>
          <p:nvPr/>
        </p:nvCxnSpPr>
        <p:spPr>
          <a:xfrm flipH="1">
            <a:off x="9597305" y="4949643"/>
            <a:ext cx="1467094" cy="501548"/>
          </a:xfrm>
          <a:prstGeom prst="line">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44" name="Straight Connector 43">
            <a:extLst>
              <a:ext uri="{FF2B5EF4-FFF2-40B4-BE49-F238E27FC236}">
                <a16:creationId xmlns:a16="http://schemas.microsoft.com/office/drawing/2014/main" id="{39213E9E-451A-3D6B-721E-777977659EDE}"/>
              </a:ext>
            </a:extLst>
          </p:cNvPr>
          <p:cNvCxnSpPr>
            <a:cxnSpLocks/>
            <a:stCxn id="34" idx="1"/>
            <a:endCxn id="25" idx="3"/>
          </p:cNvCxnSpPr>
          <p:nvPr/>
        </p:nvCxnSpPr>
        <p:spPr>
          <a:xfrm flipH="1" flipV="1">
            <a:off x="9597305" y="6162981"/>
            <a:ext cx="1467094" cy="61279"/>
          </a:xfrm>
          <a:prstGeom prst="line">
            <a:avLst/>
          </a:pr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cxnSp>
      <p:pic>
        <p:nvPicPr>
          <p:cNvPr id="59" name="Graphic 58" descr="User with solid fill">
            <a:extLst>
              <a:ext uri="{FF2B5EF4-FFF2-40B4-BE49-F238E27FC236}">
                <a16:creationId xmlns:a16="http://schemas.microsoft.com/office/drawing/2014/main" id="{7427A992-5E6C-087D-5C1B-F59BEE482B09}"/>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6455585" y="3032976"/>
            <a:ext cx="479426" cy="520701"/>
          </a:xfrm>
          <a:prstGeom prst="rect">
            <a:avLst/>
          </a:prstGeom>
        </p:spPr>
      </p:pic>
      <p:sp>
        <p:nvSpPr>
          <p:cNvPr id="60" name="Rectangle 59">
            <a:extLst>
              <a:ext uri="{FF2B5EF4-FFF2-40B4-BE49-F238E27FC236}">
                <a16:creationId xmlns:a16="http://schemas.microsoft.com/office/drawing/2014/main" id="{9903C4F5-8566-5E27-CB2A-6BE2D7A870B1}"/>
              </a:ext>
            </a:extLst>
          </p:cNvPr>
          <p:cNvSpPr/>
          <p:nvPr/>
        </p:nvSpPr>
        <p:spPr>
          <a:xfrm>
            <a:off x="6245298" y="2751980"/>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Host A Technician</a:t>
            </a:r>
          </a:p>
        </p:txBody>
      </p:sp>
      <p:sp>
        <p:nvSpPr>
          <p:cNvPr id="61" name="Rectangle: Rounded Corners 60">
            <a:extLst>
              <a:ext uri="{FF2B5EF4-FFF2-40B4-BE49-F238E27FC236}">
                <a16:creationId xmlns:a16="http://schemas.microsoft.com/office/drawing/2014/main" id="{D442FAE3-4B00-1562-4632-678E0B42D232}"/>
              </a:ext>
            </a:extLst>
          </p:cNvPr>
          <p:cNvSpPr/>
          <p:nvPr/>
        </p:nvSpPr>
        <p:spPr>
          <a:xfrm>
            <a:off x="2805112" y="3495552"/>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Zenme App</a:t>
            </a:r>
          </a:p>
        </p:txBody>
      </p:sp>
      <p:sp>
        <p:nvSpPr>
          <p:cNvPr id="62" name="Rectangle: Rounded Corners 61">
            <a:extLst>
              <a:ext uri="{FF2B5EF4-FFF2-40B4-BE49-F238E27FC236}">
                <a16:creationId xmlns:a16="http://schemas.microsoft.com/office/drawing/2014/main" id="{4AB76F3B-4B0B-A541-89CF-3E08695DB84C}"/>
              </a:ext>
            </a:extLst>
          </p:cNvPr>
          <p:cNvSpPr/>
          <p:nvPr/>
        </p:nvSpPr>
        <p:spPr>
          <a:xfrm>
            <a:off x="2805112" y="3811726"/>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Zenme AI</a:t>
            </a:r>
          </a:p>
        </p:txBody>
      </p:sp>
      <p:sp>
        <p:nvSpPr>
          <p:cNvPr id="63" name="Rectangle: Rounded Corners 62">
            <a:extLst>
              <a:ext uri="{FF2B5EF4-FFF2-40B4-BE49-F238E27FC236}">
                <a16:creationId xmlns:a16="http://schemas.microsoft.com/office/drawing/2014/main" id="{CE5709D1-6386-D45E-080F-70EF7E5EF74B}"/>
              </a:ext>
            </a:extLst>
          </p:cNvPr>
          <p:cNvSpPr/>
          <p:nvPr/>
        </p:nvSpPr>
        <p:spPr>
          <a:xfrm>
            <a:off x="2805112" y="4127900"/>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Abc AI</a:t>
            </a:r>
          </a:p>
        </p:txBody>
      </p:sp>
      <p:sp>
        <p:nvSpPr>
          <p:cNvPr id="64" name="Rectangle 63">
            <a:extLst>
              <a:ext uri="{FF2B5EF4-FFF2-40B4-BE49-F238E27FC236}">
                <a16:creationId xmlns:a16="http://schemas.microsoft.com/office/drawing/2014/main" id="{75E635DE-7961-EB38-906B-50DD67775C53}"/>
              </a:ext>
            </a:extLst>
          </p:cNvPr>
          <p:cNvSpPr/>
          <p:nvPr/>
        </p:nvSpPr>
        <p:spPr>
          <a:xfrm>
            <a:off x="2660020" y="4831746"/>
            <a:ext cx="1730185" cy="1735622"/>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Host B Org Boundary</a:t>
            </a:r>
          </a:p>
        </p:txBody>
      </p:sp>
      <p:sp>
        <p:nvSpPr>
          <p:cNvPr id="65" name="Rectangle: Rounded Corners 64">
            <a:extLst>
              <a:ext uri="{FF2B5EF4-FFF2-40B4-BE49-F238E27FC236}">
                <a16:creationId xmlns:a16="http://schemas.microsoft.com/office/drawing/2014/main" id="{EFF7BED3-9002-5763-E829-51C73BBE90A8}"/>
              </a:ext>
            </a:extLst>
          </p:cNvPr>
          <p:cNvSpPr/>
          <p:nvPr/>
        </p:nvSpPr>
        <p:spPr>
          <a:xfrm>
            <a:off x="2805112" y="5241559"/>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Zenme Framework</a:t>
            </a:r>
          </a:p>
        </p:txBody>
      </p:sp>
      <p:sp>
        <p:nvSpPr>
          <p:cNvPr id="66" name="Rectangle: Rounded Corners 65">
            <a:extLst>
              <a:ext uri="{FF2B5EF4-FFF2-40B4-BE49-F238E27FC236}">
                <a16:creationId xmlns:a16="http://schemas.microsoft.com/office/drawing/2014/main" id="{A7661D0F-4CDA-1087-3473-8E6DAB715216}"/>
              </a:ext>
            </a:extLst>
          </p:cNvPr>
          <p:cNvSpPr/>
          <p:nvPr/>
        </p:nvSpPr>
        <p:spPr>
          <a:xfrm>
            <a:off x="2805112" y="5557733"/>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Zenme App</a:t>
            </a:r>
          </a:p>
        </p:txBody>
      </p:sp>
      <p:sp>
        <p:nvSpPr>
          <p:cNvPr id="67" name="Rectangle: Rounded Corners 66">
            <a:extLst>
              <a:ext uri="{FF2B5EF4-FFF2-40B4-BE49-F238E27FC236}">
                <a16:creationId xmlns:a16="http://schemas.microsoft.com/office/drawing/2014/main" id="{5B7D7721-D2B7-57BB-1432-14F725827725}"/>
              </a:ext>
            </a:extLst>
          </p:cNvPr>
          <p:cNvSpPr/>
          <p:nvPr/>
        </p:nvSpPr>
        <p:spPr>
          <a:xfrm>
            <a:off x="2805112" y="5873907"/>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Zenme AI</a:t>
            </a:r>
          </a:p>
        </p:txBody>
      </p:sp>
      <p:sp>
        <p:nvSpPr>
          <p:cNvPr id="68" name="Rectangle: Rounded Corners 67">
            <a:extLst>
              <a:ext uri="{FF2B5EF4-FFF2-40B4-BE49-F238E27FC236}">
                <a16:creationId xmlns:a16="http://schemas.microsoft.com/office/drawing/2014/main" id="{65C2F3E7-D3F8-992A-6171-8C87360958D8}"/>
              </a:ext>
            </a:extLst>
          </p:cNvPr>
          <p:cNvSpPr/>
          <p:nvPr/>
        </p:nvSpPr>
        <p:spPr>
          <a:xfrm>
            <a:off x="2805112" y="6190081"/>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Xyz AI</a:t>
            </a:r>
          </a:p>
        </p:txBody>
      </p:sp>
      <p:pic>
        <p:nvPicPr>
          <p:cNvPr id="69" name="Graphic 68" descr="User with solid fill">
            <a:extLst>
              <a:ext uri="{FF2B5EF4-FFF2-40B4-BE49-F238E27FC236}">
                <a16:creationId xmlns:a16="http://schemas.microsoft.com/office/drawing/2014/main" id="{7676E4AC-C40E-E215-22E4-ED8C37DF54C5}"/>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6455585" y="5666303"/>
            <a:ext cx="479426" cy="520701"/>
          </a:xfrm>
          <a:prstGeom prst="rect">
            <a:avLst/>
          </a:prstGeom>
        </p:spPr>
      </p:pic>
      <p:sp>
        <p:nvSpPr>
          <p:cNvPr id="70" name="Rectangle 69">
            <a:extLst>
              <a:ext uri="{FF2B5EF4-FFF2-40B4-BE49-F238E27FC236}">
                <a16:creationId xmlns:a16="http://schemas.microsoft.com/office/drawing/2014/main" id="{84070D66-5734-A7A1-AA84-CFD7CC532FD0}"/>
              </a:ext>
            </a:extLst>
          </p:cNvPr>
          <p:cNvSpPr/>
          <p:nvPr/>
        </p:nvSpPr>
        <p:spPr>
          <a:xfrm>
            <a:off x="6245298" y="6285567"/>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Host B Technician</a:t>
            </a:r>
          </a:p>
        </p:txBody>
      </p:sp>
      <p:cxnSp>
        <p:nvCxnSpPr>
          <p:cNvPr id="71" name="Straight Connector 70">
            <a:extLst>
              <a:ext uri="{FF2B5EF4-FFF2-40B4-BE49-F238E27FC236}">
                <a16:creationId xmlns:a16="http://schemas.microsoft.com/office/drawing/2014/main" id="{2C0D62B1-4040-4A6D-F8BA-A63D427E961A}"/>
              </a:ext>
            </a:extLst>
          </p:cNvPr>
          <p:cNvCxnSpPr>
            <a:cxnSpLocks/>
            <a:stCxn id="59" idx="2"/>
            <a:endCxn id="6" idx="0"/>
          </p:cNvCxnSpPr>
          <p:nvPr/>
        </p:nvCxnSpPr>
        <p:spPr>
          <a:xfrm>
            <a:off x="6695298" y="3553677"/>
            <a:ext cx="0" cy="888618"/>
          </a:xfrm>
          <a:prstGeom prst="line">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 name="Straight Connector 15">
            <a:extLst>
              <a:ext uri="{FF2B5EF4-FFF2-40B4-BE49-F238E27FC236}">
                <a16:creationId xmlns:a16="http://schemas.microsoft.com/office/drawing/2014/main" id="{03782993-C8E0-9C01-15FE-31C6A087C7B4}"/>
              </a:ext>
            </a:extLst>
          </p:cNvPr>
          <p:cNvCxnSpPr>
            <a:cxnSpLocks/>
            <a:stCxn id="5" idx="3"/>
            <a:endCxn id="61" idx="1"/>
          </p:cNvCxnSpPr>
          <p:nvPr/>
        </p:nvCxnSpPr>
        <p:spPr>
          <a:xfrm>
            <a:off x="1040459" y="3495552"/>
            <a:ext cx="1764653" cy="90000"/>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5633A4B4-FB57-FB3F-C14B-FB5EE130E33A}"/>
              </a:ext>
            </a:extLst>
          </p:cNvPr>
          <p:cNvCxnSpPr>
            <a:cxnSpLocks/>
            <a:stCxn id="69" idx="0"/>
          </p:cNvCxnSpPr>
          <p:nvPr/>
        </p:nvCxnSpPr>
        <p:spPr>
          <a:xfrm flipV="1">
            <a:off x="6695298" y="4997165"/>
            <a:ext cx="0" cy="669138"/>
          </a:xfrm>
          <a:prstGeom prst="line">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81117601-5618-BD94-9958-1F42896AD942}"/>
              </a:ext>
            </a:extLst>
          </p:cNvPr>
          <p:cNvCxnSpPr>
            <a:cxnSpLocks/>
            <a:stCxn id="23" idx="1"/>
            <a:endCxn id="6" idx="3"/>
          </p:cNvCxnSpPr>
          <p:nvPr/>
        </p:nvCxnSpPr>
        <p:spPr>
          <a:xfrm flipH="1">
            <a:off x="7415298" y="3315818"/>
            <a:ext cx="742007" cy="1396477"/>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93" name="Straight Connector 92">
            <a:extLst>
              <a:ext uri="{FF2B5EF4-FFF2-40B4-BE49-F238E27FC236}">
                <a16:creationId xmlns:a16="http://schemas.microsoft.com/office/drawing/2014/main" id="{84586DC2-200A-BC8C-47AB-9A6CF73545DC}"/>
              </a:ext>
            </a:extLst>
          </p:cNvPr>
          <p:cNvCxnSpPr>
            <a:cxnSpLocks/>
            <a:stCxn id="22" idx="1"/>
            <a:endCxn id="6" idx="3"/>
          </p:cNvCxnSpPr>
          <p:nvPr/>
        </p:nvCxnSpPr>
        <p:spPr>
          <a:xfrm flipH="1" flipV="1">
            <a:off x="7415298" y="4712295"/>
            <a:ext cx="742007" cy="27105"/>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95" name="Straight Connector 94">
            <a:extLst>
              <a:ext uri="{FF2B5EF4-FFF2-40B4-BE49-F238E27FC236}">
                <a16:creationId xmlns:a16="http://schemas.microsoft.com/office/drawing/2014/main" id="{3A525F0E-C72A-A3F5-025A-9E26332ED9AA}"/>
              </a:ext>
            </a:extLst>
          </p:cNvPr>
          <p:cNvCxnSpPr>
            <a:cxnSpLocks/>
            <a:stCxn id="24" idx="1"/>
            <a:endCxn id="6" idx="3"/>
          </p:cNvCxnSpPr>
          <p:nvPr/>
        </p:nvCxnSpPr>
        <p:spPr>
          <a:xfrm flipH="1" flipV="1">
            <a:off x="7415298" y="4712295"/>
            <a:ext cx="742007" cy="738896"/>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97" name="Straight Connector 96">
            <a:extLst>
              <a:ext uri="{FF2B5EF4-FFF2-40B4-BE49-F238E27FC236}">
                <a16:creationId xmlns:a16="http://schemas.microsoft.com/office/drawing/2014/main" id="{E2B63C2B-3C6A-199B-3477-6EAB026D6848}"/>
              </a:ext>
            </a:extLst>
          </p:cNvPr>
          <p:cNvCxnSpPr>
            <a:cxnSpLocks/>
            <a:stCxn id="25" idx="1"/>
            <a:endCxn id="6" idx="3"/>
          </p:cNvCxnSpPr>
          <p:nvPr/>
        </p:nvCxnSpPr>
        <p:spPr>
          <a:xfrm flipH="1" flipV="1">
            <a:off x="7415298" y="4712295"/>
            <a:ext cx="742007" cy="1450686"/>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02" name="Straight Connector 101">
            <a:extLst>
              <a:ext uri="{FF2B5EF4-FFF2-40B4-BE49-F238E27FC236}">
                <a16:creationId xmlns:a16="http://schemas.microsoft.com/office/drawing/2014/main" id="{77E6087D-D3A6-E336-2BD0-1488B4EC5AEA}"/>
              </a:ext>
            </a:extLst>
          </p:cNvPr>
          <p:cNvCxnSpPr>
            <a:cxnSpLocks/>
            <a:stCxn id="21" idx="1"/>
            <a:endCxn id="6" idx="3"/>
          </p:cNvCxnSpPr>
          <p:nvPr/>
        </p:nvCxnSpPr>
        <p:spPr>
          <a:xfrm flipH="1">
            <a:off x="7415298" y="4027609"/>
            <a:ext cx="742007" cy="684686"/>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05" name="Straight Connector 104">
            <a:extLst>
              <a:ext uri="{FF2B5EF4-FFF2-40B4-BE49-F238E27FC236}">
                <a16:creationId xmlns:a16="http://schemas.microsoft.com/office/drawing/2014/main" id="{DD9EC2FF-370D-F5E6-3945-A57EB9DBB958}"/>
              </a:ext>
            </a:extLst>
          </p:cNvPr>
          <p:cNvCxnSpPr>
            <a:cxnSpLocks/>
            <a:stCxn id="6" idx="1"/>
            <a:endCxn id="16" idx="3"/>
          </p:cNvCxnSpPr>
          <p:nvPr/>
        </p:nvCxnSpPr>
        <p:spPr>
          <a:xfrm flipH="1" flipV="1">
            <a:off x="4245112" y="3269378"/>
            <a:ext cx="1730186" cy="1442917"/>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08" name="Straight Connector 107">
            <a:extLst>
              <a:ext uri="{FF2B5EF4-FFF2-40B4-BE49-F238E27FC236}">
                <a16:creationId xmlns:a16="http://schemas.microsoft.com/office/drawing/2014/main" id="{D78FEE33-4608-5FF9-9F5E-03BA39143F3D}"/>
              </a:ext>
            </a:extLst>
          </p:cNvPr>
          <p:cNvCxnSpPr>
            <a:cxnSpLocks/>
            <a:stCxn id="6" idx="1"/>
            <a:endCxn id="61" idx="3"/>
          </p:cNvCxnSpPr>
          <p:nvPr/>
        </p:nvCxnSpPr>
        <p:spPr>
          <a:xfrm flipH="1" flipV="1">
            <a:off x="4245112" y="3585552"/>
            <a:ext cx="1730186" cy="1126743"/>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10" name="Straight Connector 109">
            <a:extLst>
              <a:ext uri="{FF2B5EF4-FFF2-40B4-BE49-F238E27FC236}">
                <a16:creationId xmlns:a16="http://schemas.microsoft.com/office/drawing/2014/main" id="{46401587-7A17-7ABD-739F-51C5A78CD552}"/>
              </a:ext>
            </a:extLst>
          </p:cNvPr>
          <p:cNvCxnSpPr>
            <a:cxnSpLocks/>
            <a:stCxn id="6" idx="1"/>
            <a:endCxn id="62" idx="3"/>
          </p:cNvCxnSpPr>
          <p:nvPr/>
        </p:nvCxnSpPr>
        <p:spPr>
          <a:xfrm flipH="1" flipV="1">
            <a:off x="4245112" y="3901726"/>
            <a:ext cx="1730186" cy="810569"/>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12" name="Straight Connector 111">
            <a:extLst>
              <a:ext uri="{FF2B5EF4-FFF2-40B4-BE49-F238E27FC236}">
                <a16:creationId xmlns:a16="http://schemas.microsoft.com/office/drawing/2014/main" id="{F998E74A-659B-CEB6-3C4D-E4C8E6142553}"/>
              </a:ext>
            </a:extLst>
          </p:cNvPr>
          <p:cNvCxnSpPr>
            <a:cxnSpLocks/>
            <a:stCxn id="6" idx="1"/>
            <a:endCxn id="63" idx="3"/>
          </p:cNvCxnSpPr>
          <p:nvPr/>
        </p:nvCxnSpPr>
        <p:spPr>
          <a:xfrm flipH="1" flipV="1">
            <a:off x="4245112" y="4217900"/>
            <a:ext cx="1730186" cy="494395"/>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14" name="Straight Connector 113">
            <a:extLst>
              <a:ext uri="{FF2B5EF4-FFF2-40B4-BE49-F238E27FC236}">
                <a16:creationId xmlns:a16="http://schemas.microsoft.com/office/drawing/2014/main" id="{DEEB4D53-5524-B169-6859-D83949B01EED}"/>
              </a:ext>
            </a:extLst>
          </p:cNvPr>
          <p:cNvCxnSpPr>
            <a:cxnSpLocks/>
            <a:stCxn id="6" idx="1"/>
            <a:endCxn id="65" idx="3"/>
          </p:cNvCxnSpPr>
          <p:nvPr/>
        </p:nvCxnSpPr>
        <p:spPr>
          <a:xfrm flipH="1">
            <a:off x="4245112" y="4712295"/>
            <a:ext cx="1730186" cy="619264"/>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16" name="Straight Connector 115">
            <a:extLst>
              <a:ext uri="{FF2B5EF4-FFF2-40B4-BE49-F238E27FC236}">
                <a16:creationId xmlns:a16="http://schemas.microsoft.com/office/drawing/2014/main" id="{308D4303-EB3B-150D-D6AE-8349DAF48395}"/>
              </a:ext>
            </a:extLst>
          </p:cNvPr>
          <p:cNvCxnSpPr>
            <a:cxnSpLocks/>
            <a:stCxn id="6" idx="1"/>
            <a:endCxn id="66" idx="3"/>
          </p:cNvCxnSpPr>
          <p:nvPr/>
        </p:nvCxnSpPr>
        <p:spPr>
          <a:xfrm flipH="1">
            <a:off x="4245112" y="4712295"/>
            <a:ext cx="1730186" cy="935438"/>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18" name="Straight Connector 117">
            <a:extLst>
              <a:ext uri="{FF2B5EF4-FFF2-40B4-BE49-F238E27FC236}">
                <a16:creationId xmlns:a16="http://schemas.microsoft.com/office/drawing/2014/main" id="{BFEDD678-E12E-AFDF-6D48-ED36628B5C84}"/>
              </a:ext>
            </a:extLst>
          </p:cNvPr>
          <p:cNvCxnSpPr>
            <a:cxnSpLocks/>
            <a:stCxn id="6" idx="1"/>
            <a:endCxn id="67" idx="3"/>
          </p:cNvCxnSpPr>
          <p:nvPr/>
        </p:nvCxnSpPr>
        <p:spPr>
          <a:xfrm flipH="1">
            <a:off x="4245112" y="4712295"/>
            <a:ext cx="1730186" cy="1251612"/>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cxnSp>
        <p:nvCxnSpPr>
          <p:cNvPr id="120" name="Straight Connector 119">
            <a:extLst>
              <a:ext uri="{FF2B5EF4-FFF2-40B4-BE49-F238E27FC236}">
                <a16:creationId xmlns:a16="http://schemas.microsoft.com/office/drawing/2014/main" id="{823679CD-C441-343C-F998-EFA75E35D118}"/>
              </a:ext>
            </a:extLst>
          </p:cNvPr>
          <p:cNvCxnSpPr>
            <a:cxnSpLocks/>
            <a:stCxn id="6" idx="1"/>
            <a:endCxn id="68" idx="3"/>
          </p:cNvCxnSpPr>
          <p:nvPr/>
        </p:nvCxnSpPr>
        <p:spPr>
          <a:xfrm flipH="1">
            <a:off x="4245112" y="4712295"/>
            <a:ext cx="1730186" cy="1567786"/>
          </a:xfrm>
          <a:prstGeom prst="line">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29" name="Rectangle 128">
            <a:extLst>
              <a:ext uri="{FF2B5EF4-FFF2-40B4-BE49-F238E27FC236}">
                <a16:creationId xmlns:a16="http://schemas.microsoft.com/office/drawing/2014/main" id="{C391797E-57F5-D054-4AEA-E9C44ACEA5B1}"/>
              </a:ext>
            </a:extLst>
          </p:cNvPr>
          <p:cNvSpPr/>
          <p:nvPr/>
        </p:nvSpPr>
        <p:spPr>
          <a:xfrm>
            <a:off x="350746" y="2965201"/>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Consumer 1</a:t>
            </a:r>
          </a:p>
        </p:txBody>
      </p:sp>
      <p:pic>
        <p:nvPicPr>
          <p:cNvPr id="132" name="Graphic 131" descr="User with solid fill">
            <a:extLst>
              <a:ext uri="{FF2B5EF4-FFF2-40B4-BE49-F238E27FC236}">
                <a16:creationId xmlns:a16="http://schemas.microsoft.com/office/drawing/2014/main" id="{C35D0225-22A7-F04C-CD00-CDC12F0CD91E}"/>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561033" y="5325201"/>
            <a:ext cx="479426" cy="520701"/>
          </a:xfrm>
          <a:prstGeom prst="rect">
            <a:avLst/>
          </a:prstGeom>
        </p:spPr>
      </p:pic>
      <p:sp>
        <p:nvSpPr>
          <p:cNvPr id="133" name="Rectangle 132">
            <a:extLst>
              <a:ext uri="{FF2B5EF4-FFF2-40B4-BE49-F238E27FC236}">
                <a16:creationId xmlns:a16="http://schemas.microsoft.com/office/drawing/2014/main" id="{140A226F-64A2-DF17-46D1-A956114DEA98}"/>
              </a:ext>
            </a:extLst>
          </p:cNvPr>
          <p:cNvSpPr/>
          <p:nvPr/>
        </p:nvSpPr>
        <p:spPr>
          <a:xfrm>
            <a:off x="350746" y="5055201"/>
            <a:ext cx="900000" cy="180000"/>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Consumer 2</a:t>
            </a:r>
          </a:p>
        </p:txBody>
      </p:sp>
      <p:cxnSp>
        <p:nvCxnSpPr>
          <p:cNvPr id="135" name="Straight Connector 15">
            <a:extLst>
              <a:ext uri="{FF2B5EF4-FFF2-40B4-BE49-F238E27FC236}">
                <a16:creationId xmlns:a16="http://schemas.microsoft.com/office/drawing/2014/main" id="{13E0AA1E-D72D-3A38-960F-BFED1990A187}"/>
              </a:ext>
            </a:extLst>
          </p:cNvPr>
          <p:cNvCxnSpPr>
            <a:cxnSpLocks/>
            <a:stCxn id="132" idx="3"/>
            <a:endCxn id="66" idx="1"/>
          </p:cNvCxnSpPr>
          <p:nvPr/>
        </p:nvCxnSpPr>
        <p:spPr>
          <a:xfrm>
            <a:off x="1040459" y="5585552"/>
            <a:ext cx="1764653" cy="62181"/>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42731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CAC1AA1-DB65-5681-CBC5-D2CBD0CA9956}"/>
              </a:ext>
            </a:extLst>
          </p:cNvPr>
          <p:cNvSpPr/>
          <p:nvPr/>
        </p:nvSpPr>
        <p:spPr>
          <a:xfrm>
            <a:off x="640734" y="1557000"/>
            <a:ext cx="1725106" cy="1621512"/>
          </a:xfrm>
          <a:prstGeom prst="rect">
            <a:avLst/>
          </a:prstGeom>
          <a:noFill/>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Consumer Devices</a:t>
            </a:r>
          </a:p>
        </p:txBody>
      </p:sp>
      <p:sp>
        <p:nvSpPr>
          <p:cNvPr id="2" name="Title 1">
            <a:extLst>
              <a:ext uri="{FF2B5EF4-FFF2-40B4-BE49-F238E27FC236}">
                <a16:creationId xmlns:a16="http://schemas.microsoft.com/office/drawing/2014/main" id="{276FA1F6-7169-8000-E35F-3A81898C9178}"/>
              </a:ext>
            </a:extLst>
          </p:cNvPr>
          <p:cNvSpPr>
            <a:spLocks noGrp="1"/>
          </p:cNvSpPr>
          <p:nvPr>
            <p:ph type="title"/>
          </p:nvPr>
        </p:nvSpPr>
        <p:spPr/>
        <p:txBody>
          <a:bodyPr/>
          <a:lstStyle/>
          <a:p>
            <a:r>
              <a:rPr lang="en-AU" dirty="0"/>
              <a:t>Zen LifeStream</a:t>
            </a:r>
          </a:p>
        </p:txBody>
      </p:sp>
      <p:pic>
        <p:nvPicPr>
          <p:cNvPr id="4" name="Graphic 3" descr="User with solid fill">
            <a:extLst>
              <a:ext uri="{FF2B5EF4-FFF2-40B4-BE49-F238E27FC236}">
                <a16:creationId xmlns:a16="http://schemas.microsoft.com/office/drawing/2014/main" id="{8CEC0E54-8592-ACEE-C8AB-953D451E4B68}"/>
              </a:ext>
            </a:extLst>
          </p:cNvPr>
          <p:cNvPicPr>
            <a:picLocks noChangeAspect="1"/>
          </p:cNvPicPr>
          <p:nvPr/>
        </p:nvPicPr>
        <p:blipFill>
          <a:blip>
            <a:extLst>
              <a:ext uri="{96DAC541-7B7A-43D3-8B79-37D633B846F1}">
                <asvg:svgBlip xmlns:asvg="http://schemas.microsoft.com/office/drawing/2016/SVG/main" r:embed="rId2"/>
              </a:ext>
            </a:extLst>
          </a:blip>
          <a:srcRect l="16685" t="13871" r="16727" b="13810"/>
          <a:stretch>
            <a:fillRect/>
          </a:stretch>
        </p:blipFill>
        <p:spPr>
          <a:xfrm>
            <a:off x="868178" y="1935470"/>
            <a:ext cx="479426" cy="520701"/>
          </a:xfrm>
          <a:prstGeom prst="rect">
            <a:avLst/>
          </a:prstGeom>
        </p:spPr>
      </p:pic>
      <p:sp>
        <p:nvSpPr>
          <p:cNvPr id="5" name="Rectangle 4">
            <a:extLst>
              <a:ext uri="{FF2B5EF4-FFF2-40B4-BE49-F238E27FC236}">
                <a16:creationId xmlns:a16="http://schemas.microsoft.com/office/drawing/2014/main" id="{5B562E33-BD8A-FC60-F087-1776ED2A98B9}"/>
              </a:ext>
            </a:extLst>
          </p:cNvPr>
          <p:cNvSpPr/>
          <p:nvPr/>
        </p:nvSpPr>
        <p:spPr>
          <a:xfrm>
            <a:off x="3136450" y="1556999"/>
            <a:ext cx="4008571" cy="3401975"/>
          </a:xfrm>
          <a:prstGeom prst="rect">
            <a:avLst/>
          </a:prstGeom>
          <a:noFill/>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Zenme Host Provider</a:t>
            </a:r>
          </a:p>
        </p:txBody>
      </p:sp>
      <p:sp>
        <p:nvSpPr>
          <p:cNvPr id="9" name="Rectangle: Rounded Corners 8">
            <a:extLst>
              <a:ext uri="{FF2B5EF4-FFF2-40B4-BE49-F238E27FC236}">
                <a16:creationId xmlns:a16="http://schemas.microsoft.com/office/drawing/2014/main" id="{59AF5557-655D-C955-886A-35DAA72816AA}"/>
              </a:ext>
            </a:extLst>
          </p:cNvPr>
          <p:cNvSpPr/>
          <p:nvPr/>
        </p:nvSpPr>
        <p:spPr>
          <a:xfrm>
            <a:off x="3476274" y="2051182"/>
            <a:ext cx="36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UI</a:t>
            </a:r>
          </a:p>
        </p:txBody>
      </p:sp>
      <p:cxnSp>
        <p:nvCxnSpPr>
          <p:cNvPr id="10" name="Straight Connector 15">
            <a:extLst>
              <a:ext uri="{FF2B5EF4-FFF2-40B4-BE49-F238E27FC236}">
                <a16:creationId xmlns:a16="http://schemas.microsoft.com/office/drawing/2014/main" id="{5209DEF3-7CBF-96E0-23AC-6B71C8F8CB4A}"/>
              </a:ext>
            </a:extLst>
          </p:cNvPr>
          <p:cNvCxnSpPr>
            <a:cxnSpLocks/>
            <a:stCxn id="23" idx="3"/>
            <a:endCxn id="98" idx="1"/>
          </p:cNvCxnSpPr>
          <p:nvPr/>
        </p:nvCxnSpPr>
        <p:spPr>
          <a:xfrm>
            <a:off x="1972021" y="2006040"/>
            <a:ext cx="1458044" cy="67000"/>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831600B5-4EAA-8CC6-DBC2-35BFA396C545}"/>
              </a:ext>
            </a:extLst>
          </p:cNvPr>
          <p:cNvSpPr/>
          <p:nvPr/>
        </p:nvSpPr>
        <p:spPr>
          <a:xfrm>
            <a:off x="635654" y="3647973"/>
            <a:ext cx="1730185" cy="1311001"/>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Consumer Cloud Storage</a:t>
            </a:r>
          </a:p>
        </p:txBody>
      </p:sp>
      <p:sp>
        <p:nvSpPr>
          <p:cNvPr id="14" name="Rectangle: Rounded Corners 13">
            <a:extLst>
              <a:ext uri="{FF2B5EF4-FFF2-40B4-BE49-F238E27FC236}">
                <a16:creationId xmlns:a16="http://schemas.microsoft.com/office/drawing/2014/main" id="{E87568E9-3C55-1FB2-EEAA-919F0F9D85FC}"/>
              </a:ext>
            </a:extLst>
          </p:cNvPr>
          <p:cNvSpPr/>
          <p:nvPr/>
        </p:nvSpPr>
        <p:spPr>
          <a:xfrm>
            <a:off x="820696" y="4024840"/>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OneDrive</a:t>
            </a:r>
          </a:p>
        </p:txBody>
      </p:sp>
      <p:sp>
        <p:nvSpPr>
          <p:cNvPr id="15" name="Rectangle: Rounded Corners 14">
            <a:extLst>
              <a:ext uri="{FF2B5EF4-FFF2-40B4-BE49-F238E27FC236}">
                <a16:creationId xmlns:a16="http://schemas.microsoft.com/office/drawing/2014/main" id="{022591CC-FBC7-F017-AA67-C72948286098}"/>
              </a:ext>
            </a:extLst>
          </p:cNvPr>
          <p:cNvSpPr/>
          <p:nvPr/>
        </p:nvSpPr>
        <p:spPr>
          <a:xfrm>
            <a:off x="820696" y="4341014"/>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iCloud Drive</a:t>
            </a:r>
          </a:p>
        </p:txBody>
      </p:sp>
      <p:sp>
        <p:nvSpPr>
          <p:cNvPr id="16" name="Rectangle: Rounded Corners 15">
            <a:extLst>
              <a:ext uri="{FF2B5EF4-FFF2-40B4-BE49-F238E27FC236}">
                <a16:creationId xmlns:a16="http://schemas.microsoft.com/office/drawing/2014/main" id="{243EFFE6-CE72-6953-717E-AB043B7AC486}"/>
              </a:ext>
            </a:extLst>
          </p:cNvPr>
          <p:cNvSpPr/>
          <p:nvPr/>
        </p:nvSpPr>
        <p:spPr>
          <a:xfrm>
            <a:off x="820696" y="4657188"/>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Google Drive</a:t>
            </a:r>
          </a:p>
        </p:txBody>
      </p:sp>
      <p:pic>
        <p:nvPicPr>
          <p:cNvPr id="22" name="Content Placeholder 18" descr="Laptop with solid fill">
            <a:extLst>
              <a:ext uri="{FF2B5EF4-FFF2-40B4-BE49-F238E27FC236}">
                <a16:creationId xmlns:a16="http://schemas.microsoft.com/office/drawing/2014/main" id="{A44EA5B1-16CF-0497-0C11-6A30D30641F1}"/>
              </a:ext>
            </a:extLst>
          </p:cNvPr>
          <p:cNvPicPr>
            <a:picLocks noChangeAspect="1"/>
          </p:cNvPicPr>
          <p:nvPr/>
        </p:nvPicPr>
        <p:blipFill>
          <a:blip>
            <a:extLst>
              <a:ext uri="{96DAC541-7B7A-43D3-8B79-37D633B846F1}">
                <asvg:svgBlip xmlns:asvg="http://schemas.microsoft.com/office/drawing/2016/SVG/main" r:embed="rId3"/>
              </a:ext>
            </a:extLst>
          </a:blip>
          <a:srcRect t="18370" b="17489"/>
          <a:stretch>
            <a:fillRect/>
          </a:stretch>
        </p:blipFill>
        <p:spPr>
          <a:xfrm>
            <a:off x="1604884" y="2315150"/>
            <a:ext cx="504000" cy="323272"/>
          </a:xfrm>
          <a:prstGeom prst="rect">
            <a:avLst/>
          </a:prstGeom>
        </p:spPr>
      </p:pic>
      <p:pic>
        <p:nvPicPr>
          <p:cNvPr id="23" name="Graphic 22" descr="Smart Phone with solid fill">
            <a:extLst>
              <a:ext uri="{FF2B5EF4-FFF2-40B4-BE49-F238E27FC236}">
                <a16:creationId xmlns:a16="http://schemas.microsoft.com/office/drawing/2014/main" id="{21EA22C6-02FA-285B-2221-04F180F452B8}"/>
              </a:ext>
            </a:extLst>
          </p:cNvPr>
          <p:cNvPicPr>
            <a:picLocks noChangeAspect="1"/>
          </p:cNvPicPr>
          <p:nvPr/>
        </p:nvPicPr>
        <p:blipFill>
          <a:blip>
            <a:extLst>
              <a:ext uri="{96DAC541-7B7A-43D3-8B79-37D633B846F1}">
                <asvg:svgBlip xmlns:asvg="http://schemas.microsoft.com/office/drawing/2016/SVG/main" r:embed="rId4"/>
              </a:ext>
            </a:extLst>
          </a:blip>
          <a:srcRect l="22782" r="25092"/>
          <a:stretch>
            <a:fillRect/>
          </a:stretch>
        </p:blipFill>
        <p:spPr>
          <a:xfrm>
            <a:off x="1741423" y="1784848"/>
            <a:ext cx="230598" cy="442383"/>
          </a:xfrm>
          <a:prstGeom prst="rect">
            <a:avLst/>
          </a:prstGeom>
        </p:spPr>
      </p:pic>
      <p:pic>
        <p:nvPicPr>
          <p:cNvPr id="29" name="Graphic 28" descr="Work from home Wi-Fi with solid fill">
            <a:extLst>
              <a:ext uri="{FF2B5EF4-FFF2-40B4-BE49-F238E27FC236}">
                <a16:creationId xmlns:a16="http://schemas.microsoft.com/office/drawing/2014/main" id="{28AA07DA-29D5-ED26-279B-A62985B66F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72285" y="2727137"/>
            <a:ext cx="360000" cy="360000"/>
          </a:xfrm>
          <a:prstGeom prst="rect">
            <a:avLst/>
          </a:prstGeom>
        </p:spPr>
      </p:pic>
      <p:cxnSp>
        <p:nvCxnSpPr>
          <p:cNvPr id="30" name="Straight Connector 15">
            <a:extLst>
              <a:ext uri="{FF2B5EF4-FFF2-40B4-BE49-F238E27FC236}">
                <a16:creationId xmlns:a16="http://schemas.microsoft.com/office/drawing/2014/main" id="{28B5AA83-D786-9BC8-B343-F2F3E51BF955}"/>
              </a:ext>
            </a:extLst>
          </p:cNvPr>
          <p:cNvCxnSpPr>
            <a:cxnSpLocks/>
            <a:stCxn id="25" idx="2"/>
            <a:endCxn id="12" idx="0"/>
          </p:cNvCxnSpPr>
          <p:nvPr/>
        </p:nvCxnSpPr>
        <p:spPr>
          <a:xfrm flipH="1">
            <a:off x="1500747" y="3178512"/>
            <a:ext cx="2540" cy="469461"/>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Straight Connector 15">
            <a:extLst>
              <a:ext uri="{FF2B5EF4-FFF2-40B4-BE49-F238E27FC236}">
                <a16:creationId xmlns:a16="http://schemas.microsoft.com/office/drawing/2014/main" id="{08359110-461F-8B67-3A50-E0061B828527}"/>
              </a:ext>
            </a:extLst>
          </p:cNvPr>
          <p:cNvCxnSpPr>
            <a:cxnSpLocks/>
            <a:stCxn id="70" idx="1"/>
            <a:endCxn id="12" idx="3"/>
          </p:cNvCxnSpPr>
          <p:nvPr/>
        </p:nvCxnSpPr>
        <p:spPr>
          <a:xfrm flipH="1">
            <a:off x="2365839" y="4015411"/>
            <a:ext cx="1184584" cy="288063"/>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3" name="Rectangle 42">
            <a:extLst>
              <a:ext uri="{FF2B5EF4-FFF2-40B4-BE49-F238E27FC236}">
                <a16:creationId xmlns:a16="http://schemas.microsoft.com/office/drawing/2014/main" id="{F6B4B32E-B54D-3B5F-43DB-AE66DBD603F5}"/>
              </a:ext>
            </a:extLst>
          </p:cNvPr>
          <p:cNvSpPr/>
          <p:nvPr/>
        </p:nvSpPr>
        <p:spPr>
          <a:xfrm>
            <a:off x="1357918" y="3353257"/>
            <a:ext cx="988734" cy="188769"/>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App data</a:t>
            </a:r>
          </a:p>
        </p:txBody>
      </p:sp>
      <p:sp>
        <p:nvSpPr>
          <p:cNvPr id="52" name="Rectangle 51">
            <a:extLst>
              <a:ext uri="{FF2B5EF4-FFF2-40B4-BE49-F238E27FC236}">
                <a16:creationId xmlns:a16="http://schemas.microsoft.com/office/drawing/2014/main" id="{5BE7B46C-8DA4-98E3-D84D-6E778B176D47}"/>
              </a:ext>
            </a:extLst>
          </p:cNvPr>
          <p:cNvSpPr/>
          <p:nvPr/>
        </p:nvSpPr>
        <p:spPr>
          <a:xfrm>
            <a:off x="640732" y="5333163"/>
            <a:ext cx="1730185" cy="1311001"/>
          </a:xfrm>
          <a:prstGeom prst="rect">
            <a:avLst/>
          </a:prstGeom>
          <a:ln/>
        </p:spPr>
        <p:style>
          <a:lnRef idx="2">
            <a:schemeClr val="dk1"/>
          </a:lnRef>
          <a:fillRef idx="1">
            <a:schemeClr val="lt1"/>
          </a:fillRef>
          <a:effectRef idx="0">
            <a:schemeClr val="dk1"/>
          </a:effectRef>
          <a:fontRef idx="minor">
            <a:schemeClr val="dk1"/>
          </a:fontRef>
        </p:style>
        <p:txBody>
          <a:bodyPr lIns="36000" tIns="0" rIns="0" bIns="0" rtlCol="0" anchor="t"/>
          <a:lstStyle/>
          <a:p>
            <a:pPr algn="ctr"/>
            <a:r>
              <a:rPr lang="en-AU" sz="1200" dirty="0"/>
              <a:t>Consumer Cloud Services</a:t>
            </a:r>
          </a:p>
        </p:txBody>
      </p:sp>
      <p:sp>
        <p:nvSpPr>
          <p:cNvPr id="53" name="Rectangle: Rounded Corners 52">
            <a:extLst>
              <a:ext uri="{FF2B5EF4-FFF2-40B4-BE49-F238E27FC236}">
                <a16:creationId xmlns:a16="http://schemas.microsoft.com/office/drawing/2014/main" id="{8D3017F8-F895-3360-6991-86C5E25468DF}"/>
              </a:ext>
            </a:extLst>
          </p:cNvPr>
          <p:cNvSpPr/>
          <p:nvPr/>
        </p:nvSpPr>
        <p:spPr>
          <a:xfrm>
            <a:off x="825774" y="5710030"/>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Email</a:t>
            </a:r>
          </a:p>
        </p:txBody>
      </p:sp>
      <p:sp>
        <p:nvSpPr>
          <p:cNvPr id="54" name="Rectangle: Rounded Corners 53">
            <a:extLst>
              <a:ext uri="{FF2B5EF4-FFF2-40B4-BE49-F238E27FC236}">
                <a16:creationId xmlns:a16="http://schemas.microsoft.com/office/drawing/2014/main" id="{778ECC5E-A315-3307-436A-4F7D154EEE7F}"/>
              </a:ext>
            </a:extLst>
          </p:cNvPr>
          <p:cNvSpPr/>
          <p:nvPr/>
        </p:nvSpPr>
        <p:spPr>
          <a:xfrm>
            <a:off x="825774" y="6026204"/>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Callendar</a:t>
            </a:r>
          </a:p>
        </p:txBody>
      </p:sp>
      <p:sp>
        <p:nvSpPr>
          <p:cNvPr id="55" name="Rectangle: Rounded Corners 54">
            <a:extLst>
              <a:ext uri="{FF2B5EF4-FFF2-40B4-BE49-F238E27FC236}">
                <a16:creationId xmlns:a16="http://schemas.microsoft.com/office/drawing/2014/main" id="{653062A2-34C1-E862-F14C-13E2FC182EDB}"/>
              </a:ext>
            </a:extLst>
          </p:cNvPr>
          <p:cNvSpPr/>
          <p:nvPr/>
        </p:nvSpPr>
        <p:spPr>
          <a:xfrm>
            <a:off x="825774" y="6342378"/>
            <a:ext cx="14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Messaging</a:t>
            </a:r>
          </a:p>
        </p:txBody>
      </p:sp>
      <p:cxnSp>
        <p:nvCxnSpPr>
          <p:cNvPr id="58" name="Straight Connector 15">
            <a:extLst>
              <a:ext uri="{FF2B5EF4-FFF2-40B4-BE49-F238E27FC236}">
                <a16:creationId xmlns:a16="http://schemas.microsoft.com/office/drawing/2014/main" id="{8679C81B-94AE-3DEE-7E93-2F96008675E7}"/>
              </a:ext>
            </a:extLst>
          </p:cNvPr>
          <p:cNvCxnSpPr>
            <a:cxnSpLocks/>
            <a:stCxn id="52" idx="1"/>
            <a:endCxn id="25" idx="1"/>
          </p:cNvCxnSpPr>
          <p:nvPr/>
        </p:nvCxnSpPr>
        <p:spPr>
          <a:xfrm rot="10800000" flipH="1">
            <a:off x="640732" y="2367756"/>
            <a:ext cx="2" cy="3620908"/>
          </a:xfrm>
          <a:prstGeom prst="bentConnector3">
            <a:avLst>
              <a:gd name="adj1" fmla="val -11430000000"/>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Straight Connector 15">
            <a:extLst>
              <a:ext uri="{FF2B5EF4-FFF2-40B4-BE49-F238E27FC236}">
                <a16:creationId xmlns:a16="http://schemas.microsoft.com/office/drawing/2014/main" id="{0E689110-3696-0C50-269A-3062DDB48123}"/>
              </a:ext>
            </a:extLst>
          </p:cNvPr>
          <p:cNvCxnSpPr>
            <a:cxnSpLocks/>
            <a:stCxn id="52" idx="3"/>
            <a:endCxn id="67" idx="2"/>
          </p:cNvCxnSpPr>
          <p:nvPr/>
        </p:nvCxnSpPr>
        <p:spPr>
          <a:xfrm flipV="1">
            <a:off x="2370917" y="4651861"/>
            <a:ext cx="2079506" cy="1336803"/>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67" name="Rectangle: Rounded Corners 66">
            <a:extLst>
              <a:ext uri="{FF2B5EF4-FFF2-40B4-BE49-F238E27FC236}">
                <a16:creationId xmlns:a16="http://schemas.microsoft.com/office/drawing/2014/main" id="{874B6B7A-E995-BAB9-AAB3-690B94D1556E}"/>
              </a:ext>
            </a:extLst>
          </p:cNvPr>
          <p:cNvSpPr/>
          <p:nvPr/>
        </p:nvSpPr>
        <p:spPr>
          <a:xfrm>
            <a:off x="3550423" y="4291861"/>
            <a:ext cx="180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Source Event </a:t>
            </a:r>
            <a:br>
              <a:rPr lang="en-AU" sz="1200" dirty="0"/>
            </a:br>
            <a:r>
              <a:rPr lang="en-AU" sz="1200" dirty="0"/>
              <a:t>Polling Agents</a:t>
            </a:r>
          </a:p>
        </p:txBody>
      </p:sp>
      <p:sp>
        <p:nvSpPr>
          <p:cNvPr id="70" name="Rectangle: Rounded Corners 69">
            <a:extLst>
              <a:ext uri="{FF2B5EF4-FFF2-40B4-BE49-F238E27FC236}">
                <a16:creationId xmlns:a16="http://schemas.microsoft.com/office/drawing/2014/main" id="{834151C7-CCFE-C4E1-A666-E6CB4EA66D7D}"/>
              </a:ext>
            </a:extLst>
          </p:cNvPr>
          <p:cNvSpPr/>
          <p:nvPr/>
        </p:nvSpPr>
        <p:spPr>
          <a:xfrm>
            <a:off x="3550423" y="3835411"/>
            <a:ext cx="180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Backup data</a:t>
            </a:r>
            <a:br>
              <a:rPr lang="en-AU" sz="1200" dirty="0"/>
            </a:br>
            <a:r>
              <a:rPr lang="en-AU" sz="1200" dirty="0"/>
              <a:t> to owner</a:t>
            </a:r>
          </a:p>
        </p:txBody>
      </p:sp>
      <p:sp>
        <p:nvSpPr>
          <p:cNvPr id="76" name="Rectangle 75">
            <a:extLst>
              <a:ext uri="{FF2B5EF4-FFF2-40B4-BE49-F238E27FC236}">
                <a16:creationId xmlns:a16="http://schemas.microsoft.com/office/drawing/2014/main" id="{724B7843-6E48-3E6A-3291-AEB87E9085D9}"/>
              </a:ext>
            </a:extLst>
          </p:cNvPr>
          <p:cNvSpPr/>
          <p:nvPr/>
        </p:nvSpPr>
        <p:spPr>
          <a:xfrm>
            <a:off x="3437342" y="2917433"/>
            <a:ext cx="2294591" cy="1823317"/>
          </a:xfrm>
          <a:prstGeom prst="rect">
            <a:avLst/>
          </a:prstGeom>
          <a:noFill/>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Zenme Framework</a:t>
            </a:r>
          </a:p>
        </p:txBody>
      </p:sp>
      <p:sp>
        <p:nvSpPr>
          <p:cNvPr id="90" name="Rectangle: Rounded Corners 89">
            <a:extLst>
              <a:ext uri="{FF2B5EF4-FFF2-40B4-BE49-F238E27FC236}">
                <a16:creationId xmlns:a16="http://schemas.microsoft.com/office/drawing/2014/main" id="{31070624-CB01-A66B-5FD7-5F9791BAE16A}"/>
              </a:ext>
            </a:extLst>
          </p:cNvPr>
          <p:cNvSpPr/>
          <p:nvPr/>
        </p:nvSpPr>
        <p:spPr>
          <a:xfrm>
            <a:off x="3550423" y="3369832"/>
            <a:ext cx="1800000" cy="36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Realtime Event Stream</a:t>
            </a:r>
          </a:p>
        </p:txBody>
      </p:sp>
      <p:sp>
        <p:nvSpPr>
          <p:cNvPr id="98" name="Rectangle 97">
            <a:extLst>
              <a:ext uri="{FF2B5EF4-FFF2-40B4-BE49-F238E27FC236}">
                <a16:creationId xmlns:a16="http://schemas.microsoft.com/office/drawing/2014/main" id="{7B817A62-90FC-A270-3F94-9748CBD7F27D}"/>
              </a:ext>
            </a:extLst>
          </p:cNvPr>
          <p:cNvSpPr/>
          <p:nvPr/>
        </p:nvSpPr>
        <p:spPr>
          <a:xfrm>
            <a:off x="3430065" y="1857040"/>
            <a:ext cx="1544571" cy="432000"/>
          </a:xfrm>
          <a:prstGeom prst="rect">
            <a:avLst/>
          </a:prstGeom>
          <a:noFill/>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Zenme App</a:t>
            </a:r>
          </a:p>
        </p:txBody>
      </p:sp>
      <p:sp>
        <p:nvSpPr>
          <p:cNvPr id="99" name="Rectangle 98">
            <a:extLst>
              <a:ext uri="{FF2B5EF4-FFF2-40B4-BE49-F238E27FC236}">
                <a16:creationId xmlns:a16="http://schemas.microsoft.com/office/drawing/2014/main" id="{9F2BCE2E-6A1B-2AD9-A766-1E02E5D7D493}"/>
              </a:ext>
            </a:extLst>
          </p:cNvPr>
          <p:cNvSpPr/>
          <p:nvPr/>
        </p:nvSpPr>
        <p:spPr>
          <a:xfrm>
            <a:off x="5941496" y="3089628"/>
            <a:ext cx="1080000" cy="720000"/>
          </a:xfrm>
          <a:prstGeom prst="rect">
            <a:avLst/>
          </a:prstGeom>
          <a:noFill/>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Zenme AI</a:t>
            </a:r>
          </a:p>
        </p:txBody>
      </p:sp>
      <p:sp>
        <p:nvSpPr>
          <p:cNvPr id="100" name="Rectangle 99">
            <a:extLst>
              <a:ext uri="{FF2B5EF4-FFF2-40B4-BE49-F238E27FC236}">
                <a16:creationId xmlns:a16="http://schemas.microsoft.com/office/drawing/2014/main" id="{7F5DB17D-6A97-2690-5D0E-84F2520FF0F1}"/>
              </a:ext>
            </a:extLst>
          </p:cNvPr>
          <p:cNvSpPr/>
          <p:nvPr/>
        </p:nvSpPr>
        <p:spPr>
          <a:xfrm>
            <a:off x="5948785" y="3992781"/>
            <a:ext cx="1080000" cy="720000"/>
          </a:xfrm>
          <a:prstGeom prst="rect">
            <a:avLst/>
          </a:prstGeom>
          <a:noFill/>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Abc AI</a:t>
            </a:r>
          </a:p>
        </p:txBody>
      </p:sp>
      <p:sp>
        <p:nvSpPr>
          <p:cNvPr id="101" name="Rectangle 100">
            <a:extLst>
              <a:ext uri="{FF2B5EF4-FFF2-40B4-BE49-F238E27FC236}">
                <a16:creationId xmlns:a16="http://schemas.microsoft.com/office/drawing/2014/main" id="{265294D0-B239-7B45-270B-75FEF716047D}"/>
              </a:ext>
            </a:extLst>
          </p:cNvPr>
          <p:cNvSpPr/>
          <p:nvPr/>
        </p:nvSpPr>
        <p:spPr>
          <a:xfrm>
            <a:off x="3430065" y="2398217"/>
            <a:ext cx="1544571" cy="432000"/>
          </a:xfrm>
          <a:prstGeom prst="rect">
            <a:avLst/>
          </a:prstGeom>
          <a:noFill/>
          <a:ln/>
        </p:spPr>
        <p:style>
          <a:lnRef idx="2">
            <a:schemeClr val="dk1"/>
          </a:lnRef>
          <a:fillRef idx="1">
            <a:schemeClr val="lt1"/>
          </a:fillRef>
          <a:effectRef idx="0">
            <a:schemeClr val="dk1"/>
          </a:effectRef>
          <a:fontRef idx="minor">
            <a:schemeClr val="dk1"/>
          </a:fontRef>
        </p:style>
        <p:txBody>
          <a:bodyPr lIns="36000" tIns="0" rIns="0" bIns="0" rtlCol="0" anchor="t"/>
          <a:lstStyle/>
          <a:p>
            <a:r>
              <a:rPr lang="en-AU" sz="1200" dirty="0"/>
              <a:t>Abc App</a:t>
            </a:r>
          </a:p>
        </p:txBody>
      </p:sp>
      <p:sp>
        <p:nvSpPr>
          <p:cNvPr id="103" name="Rectangle: Rounded Corners 102">
            <a:extLst>
              <a:ext uri="{FF2B5EF4-FFF2-40B4-BE49-F238E27FC236}">
                <a16:creationId xmlns:a16="http://schemas.microsoft.com/office/drawing/2014/main" id="{85EAE65F-3FFF-F4E3-632F-E2AECDDA8BF2}"/>
              </a:ext>
            </a:extLst>
          </p:cNvPr>
          <p:cNvSpPr/>
          <p:nvPr/>
        </p:nvSpPr>
        <p:spPr>
          <a:xfrm>
            <a:off x="3910423" y="2058738"/>
            <a:ext cx="5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Logic</a:t>
            </a:r>
          </a:p>
        </p:txBody>
      </p:sp>
      <p:sp>
        <p:nvSpPr>
          <p:cNvPr id="104" name="Rectangle: Rounded Corners 103">
            <a:extLst>
              <a:ext uri="{FF2B5EF4-FFF2-40B4-BE49-F238E27FC236}">
                <a16:creationId xmlns:a16="http://schemas.microsoft.com/office/drawing/2014/main" id="{98E73CF3-3AD4-AB8D-82A9-C090D517854A}"/>
              </a:ext>
            </a:extLst>
          </p:cNvPr>
          <p:cNvSpPr/>
          <p:nvPr/>
        </p:nvSpPr>
        <p:spPr>
          <a:xfrm>
            <a:off x="4534173" y="2051182"/>
            <a:ext cx="36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DB</a:t>
            </a:r>
          </a:p>
        </p:txBody>
      </p:sp>
      <p:sp>
        <p:nvSpPr>
          <p:cNvPr id="105" name="Rectangle: Rounded Corners 104">
            <a:extLst>
              <a:ext uri="{FF2B5EF4-FFF2-40B4-BE49-F238E27FC236}">
                <a16:creationId xmlns:a16="http://schemas.microsoft.com/office/drawing/2014/main" id="{63256F0C-B15D-E584-89B5-8BFF6D68B4AB}"/>
              </a:ext>
            </a:extLst>
          </p:cNvPr>
          <p:cNvSpPr/>
          <p:nvPr/>
        </p:nvSpPr>
        <p:spPr>
          <a:xfrm>
            <a:off x="3476274" y="2591344"/>
            <a:ext cx="36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UI</a:t>
            </a:r>
          </a:p>
        </p:txBody>
      </p:sp>
      <p:sp>
        <p:nvSpPr>
          <p:cNvPr id="106" name="Rectangle: Rounded Corners 105">
            <a:extLst>
              <a:ext uri="{FF2B5EF4-FFF2-40B4-BE49-F238E27FC236}">
                <a16:creationId xmlns:a16="http://schemas.microsoft.com/office/drawing/2014/main" id="{7016E157-2815-6DEE-D6C3-074DEDD38EE6}"/>
              </a:ext>
            </a:extLst>
          </p:cNvPr>
          <p:cNvSpPr/>
          <p:nvPr/>
        </p:nvSpPr>
        <p:spPr>
          <a:xfrm>
            <a:off x="3910423" y="2598900"/>
            <a:ext cx="54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Logic</a:t>
            </a:r>
          </a:p>
        </p:txBody>
      </p:sp>
      <p:sp>
        <p:nvSpPr>
          <p:cNvPr id="107" name="Rectangle: Rounded Corners 106">
            <a:extLst>
              <a:ext uri="{FF2B5EF4-FFF2-40B4-BE49-F238E27FC236}">
                <a16:creationId xmlns:a16="http://schemas.microsoft.com/office/drawing/2014/main" id="{072FD108-80E4-3674-DA7F-3B033DE2AF05}"/>
              </a:ext>
            </a:extLst>
          </p:cNvPr>
          <p:cNvSpPr/>
          <p:nvPr/>
        </p:nvSpPr>
        <p:spPr>
          <a:xfrm>
            <a:off x="4534173" y="2591344"/>
            <a:ext cx="360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DB</a:t>
            </a:r>
          </a:p>
        </p:txBody>
      </p:sp>
      <p:cxnSp>
        <p:nvCxnSpPr>
          <p:cNvPr id="108" name="Straight Connector 15">
            <a:extLst>
              <a:ext uri="{FF2B5EF4-FFF2-40B4-BE49-F238E27FC236}">
                <a16:creationId xmlns:a16="http://schemas.microsoft.com/office/drawing/2014/main" id="{4B3B2275-603F-1AEB-7B1B-7BBD6F96CACC}"/>
              </a:ext>
            </a:extLst>
          </p:cNvPr>
          <p:cNvCxnSpPr>
            <a:cxnSpLocks/>
            <a:stCxn id="98" idx="3"/>
            <a:endCxn id="90" idx="3"/>
          </p:cNvCxnSpPr>
          <p:nvPr/>
        </p:nvCxnSpPr>
        <p:spPr>
          <a:xfrm>
            <a:off x="4974636" y="2073040"/>
            <a:ext cx="375787" cy="1476792"/>
          </a:xfrm>
          <a:prstGeom prst="curvedConnector3">
            <a:avLst>
              <a:gd name="adj1" fmla="val 160832"/>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112" name="Straight Connector 15">
            <a:extLst>
              <a:ext uri="{FF2B5EF4-FFF2-40B4-BE49-F238E27FC236}">
                <a16:creationId xmlns:a16="http://schemas.microsoft.com/office/drawing/2014/main" id="{0CB00353-7316-7984-80B2-7578697F3026}"/>
              </a:ext>
            </a:extLst>
          </p:cNvPr>
          <p:cNvCxnSpPr>
            <a:cxnSpLocks/>
            <a:stCxn id="101" idx="3"/>
            <a:endCxn id="90" idx="3"/>
          </p:cNvCxnSpPr>
          <p:nvPr/>
        </p:nvCxnSpPr>
        <p:spPr>
          <a:xfrm>
            <a:off x="4974636" y="2614217"/>
            <a:ext cx="375787" cy="935615"/>
          </a:xfrm>
          <a:prstGeom prst="curvedConnector3">
            <a:avLst>
              <a:gd name="adj1" fmla="val 160832"/>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118" name="Straight Connector 15">
            <a:extLst>
              <a:ext uri="{FF2B5EF4-FFF2-40B4-BE49-F238E27FC236}">
                <a16:creationId xmlns:a16="http://schemas.microsoft.com/office/drawing/2014/main" id="{029CFFE3-E67A-3F15-7DE8-0008AB0C4F61}"/>
              </a:ext>
            </a:extLst>
          </p:cNvPr>
          <p:cNvCxnSpPr>
            <a:cxnSpLocks/>
            <a:stCxn id="90" idx="3"/>
            <a:endCxn id="100" idx="1"/>
          </p:cNvCxnSpPr>
          <p:nvPr/>
        </p:nvCxnSpPr>
        <p:spPr>
          <a:xfrm>
            <a:off x="5350423" y="3549832"/>
            <a:ext cx="598362" cy="802949"/>
          </a:xfrm>
          <a:prstGeom prst="curvedConnector3">
            <a:avLst>
              <a:gd name="adj1" fmla="val 50000"/>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123" name="Straight Connector 15">
            <a:extLst>
              <a:ext uri="{FF2B5EF4-FFF2-40B4-BE49-F238E27FC236}">
                <a16:creationId xmlns:a16="http://schemas.microsoft.com/office/drawing/2014/main" id="{F3F16143-F94E-F186-1426-C6D14A79BE2F}"/>
              </a:ext>
            </a:extLst>
          </p:cNvPr>
          <p:cNvCxnSpPr>
            <a:cxnSpLocks/>
            <a:stCxn id="90" idx="3"/>
            <a:endCxn id="99" idx="1"/>
          </p:cNvCxnSpPr>
          <p:nvPr/>
        </p:nvCxnSpPr>
        <p:spPr>
          <a:xfrm flipV="1">
            <a:off x="5350423" y="3449628"/>
            <a:ext cx="591073" cy="100204"/>
          </a:xfrm>
          <a:prstGeom prst="curvedConnector3">
            <a:avLst>
              <a:gd name="adj1" fmla="val 50000"/>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127" name="Straight Connector 15">
            <a:extLst>
              <a:ext uri="{FF2B5EF4-FFF2-40B4-BE49-F238E27FC236}">
                <a16:creationId xmlns:a16="http://schemas.microsoft.com/office/drawing/2014/main" id="{6BEAB1C6-79A5-EEC9-1CB8-90DB182AB0B0}"/>
              </a:ext>
            </a:extLst>
          </p:cNvPr>
          <p:cNvCxnSpPr>
            <a:cxnSpLocks/>
            <a:stCxn id="29" idx="3"/>
            <a:endCxn id="90" idx="1"/>
          </p:cNvCxnSpPr>
          <p:nvPr/>
        </p:nvCxnSpPr>
        <p:spPr>
          <a:xfrm>
            <a:off x="2032285" y="2907137"/>
            <a:ext cx="1518138" cy="642695"/>
          </a:xfrm>
          <a:prstGeom prst="straightConnector1">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130" name="Straight Connector 15">
            <a:extLst>
              <a:ext uri="{FF2B5EF4-FFF2-40B4-BE49-F238E27FC236}">
                <a16:creationId xmlns:a16="http://schemas.microsoft.com/office/drawing/2014/main" id="{4C402B66-A4B5-90BA-5520-C7D82E6D7B02}"/>
              </a:ext>
            </a:extLst>
          </p:cNvPr>
          <p:cNvCxnSpPr>
            <a:cxnSpLocks/>
            <a:stCxn id="23" idx="3"/>
            <a:endCxn id="101" idx="1"/>
          </p:cNvCxnSpPr>
          <p:nvPr/>
        </p:nvCxnSpPr>
        <p:spPr>
          <a:xfrm>
            <a:off x="1972021" y="2006040"/>
            <a:ext cx="1458044" cy="608177"/>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53" name="Rectangle: Rounded Corners 152">
            <a:extLst>
              <a:ext uri="{FF2B5EF4-FFF2-40B4-BE49-F238E27FC236}">
                <a16:creationId xmlns:a16="http://schemas.microsoft.com/office/drawing/2014/main" id="{951C5EA6-0A49-BBDC-845E-FB1B6A6DD309}"/>
              </a:ext>
            </a:extLst>
          </p:cNvPr>
          <p:cNvSpPr/>
          <p:nvPr/>
        </p:nvSpPr>
        <p:spPr>
          <a:xfrm>
            <a:off x="5998926" y="3331676"/>
            <a:ext cx="972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Inference</a:t>
            </a:r>
          </a:p>
        </p:txBody>
      </p:sp>
      <p:sp>
        <p:nvSpPr>
          <p:cNvPr id="154" name="Rectangle: Rounded Corners 153">
            <a:extLst>
              <a:ext uri="{FF2B5EF4-FFF2-40B4-BE49-F238E27FC236}">
                <a16:creationId xmlns:a16="http://schemas.microsoft.com/office/drawing/2014/main" id="{7C2EED13-585E-0FF2-10B7-804E1E49C80A}"/>
              </a:ext>
            </a:extLst>
          </p:cNvPr>
          <p:cNvSpPr/>
          <p:nvPr/>
        </p:nvSpPr>
        <p:spPr>
          <a:xfrm>
            <a:off x="5998926" y="3564330"/>
            <a:ext cx="972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Fed Training</a:t>
            </a:r>
          </a:p>
        </p:txBody>
      </p:sp>
      <p:sp>
        <p:nvSpPr>
          <p:cNvPr id="155" name="Rectangle: Rounded Corners 154">
            <a:extLst>
              <a:ext uri="{FF2B5EF4-FFF2-40B4-BE49-F238E27FC236}">
                <a16:creationId xmlns:a16="http://schemas.microsoft.com/office/drawing/2014/main" id="{3917AD2E-3DFD-648F-6903-52BEBF1F5400}"/>
              </a:ext>
            </a:extLst>
          </p:cNvPr>
          <p:cNvSpPr/>
          <p:nvPr/>
        </p:nvSpPr>
        <p:spPr>
          <a:xfrm>
            <a:off x="5998926" y="4222897"/>
            <a:ext cx="972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Inference</a:t>
            </a:r>
          </a:p>
        </p:txBody>
      </p:sp>
      <p:sp>
        <p:nvSpPr>
          <p:cNvPr id="156" name="Rectangle: Rounded Corners 155">
            <a:extLst>
              <a:ext uri="{FF2B5EF4-FFF2-40B4-BE49-F238E27FC236}">
                <a16:creationId xmlns:a16="http://schemas.microsoft.com/office/drawing/2014/main" id="{394E347C-FDD1-3B3E-E857-7A5898000E30}"/>
              </a:ext>
            </a:extLst>
          </p:cNvPr>
          <p:cNvSpPr/>
          <p:nvPr/>
        </p:nvSpPr>
        <p:spPr>
          <a:xfrm>
            <a:off x="5998926" y="4455551"/>
            <a:ext cx="972000" cy="180000"/>
          </a:xfrm>
          <a:prstGeom prst="round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Fed Training</a:t>
            </a:r>
          </a:p>
        </p:txBody>
      </p:sp>
      <p:sp>
        <p:nvSpPr>
          <p:cNvPr id="160" name="Content Placeholder 159">
            <a:extLst>
              <a:ext uri="{FF2B5EF4-FFF2-40B4-BE49-F238E27FC236}">
                <a16:creationId xmlns:a16="http://schemas.microsoft.com/office/drawing/2014/main" id="{71B049E7-20C9-34A8-3D25-B1A55D6F482E}"/>
              </a:ext>
            </a:extLst>
          </p:cNvPr>
          <p:cNvSpPr>
            <a:spLocks noGrp="1"/>
          </p:cNvSpPr>
          <p:nvPr>
            <p:ph idx="1"/>
          </p:nvPr>
        </p:nvSpPr>
        <p:spPr>
          <a:xfrm>
            <a:off x="7361873" y="856525"/>
            <a:ext cx="4342447" cy="5320439"/>
          </a:xfrm>
        </p:spPr>
        <p:txBody>
          <a:bodyPr/>
          <a:lstStyle/>
          <a:p>
            <a:endParaRPr lang="en-AU" dirty="0"/>
          </a:p>
        </p:txBody>
      </p:sp>
      <p:pic>
        <p:nvPicPr>
          <p:cNvPr id="161" name="Content Placeholder 26" descr="Car with solid fill">
            <a:extLst>
              <a:ext uri="{FF2B5EF4-FFF2-40B4-BE49-F238E27FC236}">
                <a16:creationId xmlns:a16="http://schemas.microsoft.com/office/drawing/2014/main" id="{7A284C26-913A-9E67-A186-2B0D8EC1EEEE}"/>
              </a:ext>
            </a:extLst>
          </p:cNvPr>
          <p:cNvPicPr>
            <a:picLocks noChangeAspect="1"/>
          </p:cNvPicPr>
          <p:nvPr/>
        </p:nvPicPr>
        <p:blipFill>
          <a:blip>
            <a:extLst>
              <a:ext uri="{96DAC541-7B7A-43D3-8B79-37D633B846F1}">
                <asvg:svgBlip xmlns:asvg="http://schemas.microsoft.com/office/drawing/2016/SVG/main" r:embed="rId6"/>
              </a:ext>
            </a:extLst>
          </a:blip>
          <a:srcRect t="27543" b="24109"/>
          <a:stretch>
            <a:fillRect/>
          </a:stretch>
        </p:blipFill>
        <p:spPr>
          <a:xfrm>
            <a:off x="884885" y="2847787"/>
            <a:ext cx="540000" cy="261079"/>
          </a:xfrm>
          <a:prstGeom prst="rect">
            <a:avLst/>
          </a:prstGeom>
        </p:spPr>
      </p:pic>
      <p:sp>
        <p:nvSpPr>
          <p:cNvPr id="162" name="Rectangle 161">
            <a:extLst>
              <a:ext uri="{FF2B5EF4-FFF2-40B4-BE49-F238E27FC236}">
                <a16:creationId xmlns:a16="http://schemas.microsoft.com/office/drawing/2014/main" id="{4D362451-2FAC-8FB0-86AC-7DEAE4D341DB}"/>
              </a:ext>
            </a:extLst>
          </p:cNvPr>
          <p:cNvSpPr/>
          <p:nvPr/>
        </p:nvSpPr>
        <p:spPr>
          <a:xfrm>
            <a:off x="349889" y="5066402"/>
            <a:ext cx="714590" cy="181217"/>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Events</a:t>
            </a:r>
          </a:p>
        </p:txBody>
      </p:sp>
      <p:sp>
        <p:nvSpPr>
          <p:cNvPr id="163" name="Rectangle 162">
            <a:extLst>
              <a:ext uri="{FF2B5EF4-FFF2-40B4-BE49-F238E27FC236}">
                <a16:creationId xmlns:a16="http://schemas.microsoft.com/office/drawing/2014/main" id="{70CCA0BC-1E50-A5C0-89AE-8C2CA0B82B20}"/>
              </a:ext>
            </a:extLst>
          </p:cNvPr>
          <p:cNvSpPr/>
          <p:nvPr/>
        </p:nvSpPr>
        <p:spPr>
          <a:xfrm>
            <a:off x="2376960" y="5405503"/>
            <a:ext cx="714590" cy="181217"/>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Events</a:t>
            </a:r>
          </a:p>
        </p:txBody>
      </p:sp>
      <p:sp>
        <p:nvSpPr>
          <p:cNvPr id="164" name="Rectangle 163">
            <a:extLst>
              <a:ext uri="{FF2B5EF4-FFF2-40B4-BE49-F238E27FC236}">
                <a16:creationId xmlns:a16="http://schemas.microsoft.com/office/drawing/2014/main" id="{75D6AAF4-26E7-7EDA-618A-3D42D7EC26C0}"/>
              </a:ext>
            </a:extLst>
          </p:cNvPr>
          <p:cNvSpPr/>
          <p:nvPr/>
        </p:nvSpPr>
        <p:spPr>
          <a:xfrm>
            <a:off x="2416782" y="3956207"/>
            <a:ext cx="714590" cy="181217"/>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AU" sz="1200" dirty="0"/>
              <a:t>Backup</a:t>
            </a:r>
          </a:p>
        </p:txBody>
      </p:sp>
    </p:spTree>
    <p:extLst>
      <p:ext uri="{BB962C8B-B14F-4D97-AF65-F5344CB8AC3E}">
        <p14:creationId xmlns:p14="http://schemas.microsoft.com/office/powerpoint/2010/main" val="40143135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3753</TotalTime>
  <Words>627</Words>
  <Application>Microsoft Office PowerPoint</Application>
  <PresentationFormat>Widescreen</PresentationFormat>
  <Paragraphs>142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Zenblox Opensource</vt:lpstr>
      <vt:lpstr>Use Cases</vt:lpstr>
      <vt:lpstr>Zen Installer Initialisation</vt:lpstr>
      <vt:lpstr>App Authentication Architecture</vt:lpstr>
      <vt:lpstr>Federated Support Architecture</vt:lpstr>
      <vt:lpstr>Consumer AI</vt:lpstr>
      <vt:lpstr>Zen LifeStream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Jake Vosloo</dc:creator>
  <cp:lastModifiedBy>Jake Y Vosloo</cp:lastModifiedBy>
  <cp:revision>10</cp:revision>
  <dcterms:created xsi:type="dcterms:W3CDTF">2026-08-13T22:53:17Z</dcterms:created>
  <dcterms:modified xsi:type="dcterms:W3CDTF">2026-08-17T06:46:01Z</dcterms:modified>
</cp:coreProperties>
</file>