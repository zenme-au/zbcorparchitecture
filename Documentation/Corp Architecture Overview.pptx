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0" d="100"/>
          <a:sy n="110" d="100"/>
        </p:scale>
        <p:origin x="138"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BD48F-717A-8C77-D6DE-3674A5D53A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19FB8AAB-899D-8820-C803-022AAF576A2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D3AF8CB1-58A0-DF05-7441-B00CF26AAF1D}"/>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5" name="Footer Placeholder 4">
            <a:extLst>
              <a:ext uri="{FF2B5EF4-FFF2-40B4-BE49-F238E27FC236}">
                <a16:creationId xmlns:a16="http://schemas.microsoft.com/office/drawing/2014/main" id="{9B14131F-3B67-E700-D933-3924A46EC67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158349-74A0-2BD3-9605-5DB392A756EC}"/>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7312392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AF81C-BA21-5F9C-A19B-26B57DA20F8A}"/>
              </a:ext>
            </a:extLst>
          </p:cNvPr>
          <p:cNvSpPr>
            <a:spLocks noGrp="1"/>
          </p:cNvSpPr>
          <p:nvPr>
            <p:ph type="title"/>
          </p:nvPr>
        </p:nvSpPr>
        <p:spPr>
          <a:xfrm>
            <a:off x="348343" y="136525"/>
            <a:ext cx="11355977" cy="720000"/>
          </a:xfrm>
        </p:spPr>
        <p:txBody>
          <a:bodyPr/>
          <a:lstStyle/>
          <a:p>
            <a:r>
              <a:rPr lang="en-US" dirty="0"/>
              <a:t>Click to edit Master title style</a:t>
            </a:r>
            <a:endParaRPr lang="en-AU" dirty="0"/>
          </a:p>
        </p:txBody>
      </p:sp>
      <p:sp>
        <p:nvSpPr>
          <p:cNvPr id="3" name="Content Placeholder 2">
            <a:extLst>
              <a:ext uri="{FF2B5EF4-FFF2-40B4-BE49-F238E27FC236}">
                <a16:creationId xmlns:a16="http://schemas.microsoft.com/office/drawing/2014/main" id="{70EC9609-3290-B4AA-75E4-F7E53413F051}"/>
              </a:ext>
            </a:extLst>
          </p:cNvPr>
          <p:cNvSpPr>
            <a:spLocks noGrp="1"/>
          </p:cNvSpPr>
          <p:nvPr>
            <p:ph idx="1"/>
          </p:nvPr>
        </p:nvSpPr>
        <p:spPr>
          <a:xfrm>
            <a:off x="348343" y="1034042"/>
            <a:ext cx="11355977" cy="51429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12BC541-7E96-B6E9-461F-15113207DCED}"/>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5" name="Footer Placeholder 4">
            <a:extLst>
              <a:ext uri="{FF2B5EF4-FFF2-40B4-BE49-F238E27FC236}">
                <a16:creationId xmlns:a16="http://schemas.microsoft.com/office/drawing/2014/main" id="{341011DD-11DB-BF00-5D0F-8766A0C36C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575AED40-6C7A-D88F-DB01-0858A3F97E71}"/>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11988223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4C550-71A0-1F35-DB57-ED5AE8A470A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8BBF51A6-8034-35B4-05B5-2E1A220A07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905E6C2-B3A5-EBFD-8AC5-6B4E3E2A9B99}"/>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5" name="Footer Placeholder 4">
            <a:extLst>
              <a:ext uri="{FF2B5EF4-FFF2-40B4-BE49-F238E27FC236}">
                <a16:creationId xmlns:a16="http://schemas.microsoft.com/office/drawing/2014/main" id="{9D56EFB8-CF71-2A87-F3FF-D781115D563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24626F0-95B5-027F-4E71-BA25C1BA1D9C}"/>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3954741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FB220-0F88-18FD-FA69-6DA558D9035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B1CC90C6-9A21-E0DC-D444-1B12F5CE8B3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EE1245CC-2689-1699-A3BC-1677BE33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F596E6B-FB1C-973F-40F2-E642C1E546B0}"/>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6" name="Footer Placeholder 5">
            <a:extLst>
              <a:ext uri="{FF2B5EF4-FFF2-40B4-BE49-F238E27FC236}">
                <a16:creationId xmlns:a16="http://schemas.microsoft.com/office/drawing/2014/main" id="{4BB1B24A-EF17-FE94-13AA-CC37CDD8A51C}"/>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0AB5005-CA2F-CB0A-D268-F737E2ABAE7C}"/>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41678030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E1953-2567-DCB1-B84A-2E0573E3F51C}"/>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BEBE741C-4977-866A-BEA7-C921435DCFD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4C85656-F1F0-A806-846C-4EF1FE739E1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6A3B73B-9C8E-F005-B4E6-B95B1972BB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F328D4-E9D0-C513-3427-04A4E7D1F29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22A4C5D8-D4C2-8F38-D91B-74760B91AFDD}"/>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8" name="Footer Placeholder 7">
            <a:extLst>
              <a:ext uri="{FF2B5EF4-FFF2-40B4-BE49-F238E27FC236}">
                <a16:creationId xmlns:a16="http://schemas.microsoft.com/office/drawing/2014/main" id="{6A6FB4CB-A681-2392-05B0-3420D5661E8A}"/>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7D9D7972-031D-7811-22E4-A79CE3FC8033}"/>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17498053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68CEA-9C60-C06B-F72F-76D7C636DBF0}"/>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6F6A9B3-33F5-4B79-93F4-DFA5A3552104}"/>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4" name="Footer Placeholder 3">
            <a:extLst>
              <a:ext uri="{FF2B5EF4-FFF2-40B4-BE49-F238E27FC236}">
                <a16:creationId xmlns:a16="http://schemas.microsoft.com/office/drawing/2014/main" id="{A067FECA-8A52-BEF8-52B8-5A7B0FF87130}"/>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093A9B61-3515-38BC-BA58-6CA63E3A41E6}"/>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3322385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1FDCF8-CD64-07FF-918E-02D8B111A6AB}"/>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3" name="Footer Placeholder 2">
            <a:extLst>
              <a:ext uri="{FF2B5EF4-FFF2-40B4-BE49-F238E27FC236}">
                <a16:creationId xmlns:a16="http://schemas.microsoft.com/office/drawing/2014/main" id="{F53A3345-EE8A-9173-8267-100941C2D63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FBAAF3F4-040B-225E-F161-F0FEFBFCCE3A}"/>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37583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303C8-9D6A-F7ED-A8B0-5AC72F482C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D57671A7-2B1C-A358-B28A-8323BEC766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1FB96199-B313-74FD-EFF8-76A3BBA1333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AA5DAF-5833-2242-FAF7-10F925FF2041}"/>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6" name="Footer Placeholder 5">
            <a:extLst>
              <a:ext uri="{FF2B5EF4-FFF2-40B4-BE49-F238E27FC236}">
                <a16:creationId xmlns:a16="http://schemas.microsoft.com/office/drawing/2014/main" id="{53F2CB91-E5F2-2E7B-256A-990C6609B5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049CB704-9481-1464-49F3-518714BC56A5}"/>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3390068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1353F-9D80-17E9-37A0-EAF2EAF9233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494DD87-82E0-A6E3-1D75-4B7D25A5151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29A2F487-7AB3-CDD8-CE80-E8B6B61DA7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0CCD8D-71A7-FF40-014C-1D9EF19DCA7A}"/>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6" name="Footer Placeholder 5">
            <a:extLst>
              <a:ext uri="{FF2B5EF4-FFF2-40B4-BE49-F238E27FC236}">
                <a16:creationId xmlns:a16="http://schemas.microsoft.com/office/drawing/2014/main" id="{6167D7CA-29DD-D3B8-4779-8A938300D826}"/>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33970AD0-41FA-AEC5-6FED-E0A007271F01}"/>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4080307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19ECFB-EB9E-6110-B065-FF4ADA662DD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AAA87AAD-094E-6B91-3075-460A72AFBA5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9057F2C-BEA5-6B93-0E6F-FEECC99F2C6C}"/>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5" name="Footer Placeholder 4">
            <a:extLst>
              <a:ext uri="{FF2B5EF4-FFF2-40B4-BE49-F238E27FC236}">
                <a16:creationId xmlns:a16="http://schemas.microsoft.com/office/drawing/2014/main" id="{B7D2699C-7E65-780F-F5AE-EDC1803ED1B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78A510EF-AEFF-694B-49F2-D614AFE8504E}"/>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2134085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E6A1230-C486-B249-9342-8B8BAACF505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7980F6F-A7CB-B2AE-70D3-34D823CB65C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EBCB807-4A4B-CB77-1315-4A0DF3C5E673}"/>
              </a:ext>
            </a:extLst>
          </p:cNvPr>
          <p:cNvSpPr>
            <a:spLocks noGrp="1"/>
          </p:cNvSpPr>
          <p:nvPr>
            <p:ph type="dt" sz="half" idx="10"/>
          </p:nvPr>
        </p:nvSpPr>
        <p:spPr/>
        <p:txBody>
          <a:bodyPr/>
          <a:lstStyle/>
          <a:p>
            <a:fld id="{08306F49-376E-45A5-AD65-FD4D759E20F3}" type="datetimeFigureOut">
              <a:rPr lang="en-AU" smtClean="0"/>
              <a:t>14/08/2026</a:t>
            </a:fld>
            <a:endParaRPr lang="en-AU"/>
          </a:p>
        </p:txBody>
      </p:sp>
      <p:sp>
        <p:nvSpPr>
          <p:cNvPr id="5" name="Footer Placeholder 4">
            <a:extLst>
              <a:ext uri="{FF2B5EF4-FFF2-40B4-BE49-F238E27FC236}">
                <a16:creationId xmlns:a16="http://schemas.microsoft.com/office/drawing/2014/main" id="{D000FAAB-9ED2-F6B3-BC07-55FDC528D8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CEE006A-7BBA-CB08-76AD-8009D5767D0F}"/>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7342458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9724EC7-C0DF-DBB1-415D-3F665657C16E}"/>
              </a:ext>
            </a:extLst>
          </p:cNvPr>
          <p:cNvSpPr>
            <a:spLocks noGrp="1"/>
          </p:cNvSpPr>
          <p:nvPr>
            <p:ph type="title"/>
          </p:nvPr>
        </p:nvSpPr>
        <p:spPr>
          <a:xfrm>
            <a:off x="838200" y="136525"/>
            <a:ext cx="10515600" cy="720000"/>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B0728EDD-BE12-1993-CF64-4D818CFFF99D}"/>
              </a:ext>
            </a:extLst>
          </p:cNvPr>
          <p:cNvSpPr>
            <a:spLocks noGrp="1"/>
          </p:cNvSpPr>
          <p:nvPr>
            <p:ph type="body" idx="1"/>
          </p:nvPr>
        </p:nvSpPr>
        <p:spPr>
          <a:xfrm>
            <a:off x="838200" y="1034042"/>
            <a:ext cx="10515600" cy="51429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BFC163C-B929-D55E-8B62-1A8E225492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306F49-376E-45A5-AD65-FD4D759E20F3}" type="datetimeFigureOut">
              <a:rPr lang="en-AU" smtClean="0"/>
              <a:t>14/08/2026</a:t>
            </a:fld>
            <a:endParaRPr lang="en-AU"/>
          </a:p>
        </p:txBody>
      </p:sp>
      <p:sp>
        <p:nvSpPr>
          <p:cNvPr id="5" name="Footer Placeholder 4">
            <a:extLst>
              <a:ext uri="{FF2B5EF4-FFF2-40B4-BE49-F238E27FC236}">
                <a16:creationId xmlns:a16="http://schemas.microsoft.com/office/drawing/2014/main" id="{462F3D33-F5B5-AAAC-DD3B-1571EA0D8B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1F2F11D7-9B03-956F-75F8-8F6FFCCFC3E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FA5C14C-0761-49D0-95FC-F4C48F67B8D3}" type="slidenum">
              <a:rPr lang="en-AU" smtClean="0"/>
              <a:t>‹#›</a:t>
            </a:fld>
            <a:endParaRPr lang="en-AU"/>
          </a:p>
        </p:txBody>
      </p:sp>
    </p:spTree>
    <p:extLst>
      <p:ext uri="{BB962C8B-B14F-4D97-AF65-F5344CB8AC3E}">
        <p14:creationId xmlns:p14="http://schemas.microsoft.com/office/powerpoint/2010/main" val="41496605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CD2FC-2438-C29A-8E12-98F5C9B9DE10}"/>
              </a:ext>
            </a:extLst>
          </p:cNvPr>
          <p:cNvSpPr>
            <a:spLocks noGrp="1"/>
          </p:cNvSpPr>
          <p:nvPr>
            <p:ph type="ctrTitle"/>
          </p:nvPr>
        </p:nvSpPr>
        <p:spPr/>
        <p:txBody>
          <a:bodyPr/>
          <a:lstStyle/>
          <a:p>
            <a:r>
              <a:rPr lang="en-AU" dirty="0"/>
              <a:t>Zenblox Opensource</a:t>
            </a:r>
          </a:p>
        </p:txBody>
      </p:sp>
      <p:sp>
        <p:nvSpPr>
          <p:cNvPr id="3" name="Subtitle 2">
            <a:extLst>
              <a:ext uri="{FF2B5EF4-FFF2-40B4-BE49-F238E27FC236}">
                <a16:creationId xmlns:a16="http://schemas.microsoft.com/office/drawing/2014/main" id="{21CC6A01-226D-2601-7D2E-9DFB17C2B57E}"/>
              </a:ext>
            </a:extLst>
          </p:cNvPr>
          <p:cNvSpPr>
            <a:spLocks noGrp="1"/>
          </p:cNvSpPr>
          <p:nvPr>
            <p:ph type="subTitle" idx="1"/>
          </p:nvPr>
        </p:nvSpPr>
        <p:spPr/>
        <p:txBody>
          <a:bodyPr/>
          <a:lstStyle/>
          <a:p>
            <a:r>
              <a:rPr lang="en-AU" dirty="0"/>
              <a:t>Corp Architecture Overview</a:t>
            </a:r>
          </a:p>
        </p:txBody>
      </p:sp>
    </p:spTree>
    <p:extLst>
      <p:ext uri="{BB962C8B-B14F-4D97-AF65-F5344CB8AC3E}">
        <p14:creationId xmlns:p14="http://schemas.microsoft.com/office/powerpoint/2010/main" val="25620744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2BE04BD8-2102-C4FA-658F-F7FD00C738E1}"/>
              </a:ext>
            </a:extLst>
          </p:cNvPr>
          <p:cNvSpPr/>
          <p:nvPr/>
        </p:nvSpPr>
        <p:spPr>
          <a:xfrm>
            <a:off x="1512217" y="3011973"/>
            <a:ext cx="1730185" cy="3461788"/>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Zenme Org Boundary</a:t>
            </a:r>
          </a:p>
        </p:txBody>
      </p:sp>
      <p:sp>
        <p:nvSpPr>
          <p:cNvPr id="13" name="Rectangle 12">
            <a:extLst>
              <a:ext uri="{FF2B5EF4-FFF2-40B4-BE49-F238E27FC236}">
                <a16:creationId xmlns:a16="http://schemas.microsoft.com/office/drawing/2014/main" id="{188CEB5D-6025-AC2C-19C2-137EA3B4484B}"/>
              </a:ext>
            </a:extLst>
          </p:cNvPr>
          <p:cNvSpPr/>
          <p:nvPr/>
        </p:nvSpPr>
        <p:spPr>
          <a:xfrm>
            <a:off x="3570432" y="2998430"/>
            <a:ext cx="5848261" cy="3461788"/>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Customer Org Boundary</a:t>
            </a:r>
          </a:p>
        </p:txBody>
      </p:sp>
      <p:sp>
        <p:nvSpPr>
          <p:cNvPr id="2" name="Title 1">
            <a:extLst>
              <a:ext uri="{FF2B5EF4-FFF2-40B4-BE49-F238E27FC236}">
                <a16:creationId xmlns:a16="http://schemas.microsoft.com/office/drawing/2014/main" id="{E38C65B2-C3B2-884A-16B4-C86DCB50FBFA}"/>
              </a:ext>
            </a:extLst>
          </p:cNvPr>
          <p:cNvSpPr>
            <a:spLocks noGrp="1"/>
          </p:cNvSpPr>
          <p:nvPr>
            <p:ph type="title"/>
          </p:nvPr>
        </p:nvSpPr>
        <p:spPr/>
        <p:txBody>
          <a:bodyPr/>
          <a:lstStyle/>
          <a:p>
            <a:r>
              <a:rPr lang="en-AU" dirty="0"/>
              <a:t>Zen Installer</a:t>
            </a:r>
          </a:p>
        </p:txBody>
      </p:sp>
      <p:sp>
        <p:nvSpPr>
          <p:cNvPr id="11" name="Content Placeholder 10">
            <a:extLst>
              <a:ext uri="{FF2B5EF4-FFF2-40B4-BE49-F238E27FC236}">
                <a16:creationId xmlns:a16="http://schemas.microsoft.com/office/drawing/2014/main" id="{6C290412-2A2C-3EDD-D0F7-FFE47274DCAB}"/>
              </a:ext>
            </a:extLst>
          </p:cNvPr>
          <p:cNvSpPr>
            <a:spLocks noGrp="1"/>
          </p:cNvSpPr>
          <p:nvPr>
            <p:ph idx="1"/>
          </p:nvPr>
        </p:nvSpPr>
        <p:spPr>
          <a:xfrm>
            <a:off x="348343" y="856526"/>
            <a:ext cx="11355977" cy="1538331"/>
          </a:xfrm>
        </p:spPr>
        <p:txBody>
          <a:bodyPr>
            <a:normAutofit lnSpcReduction="10000"/>
          </a:bodyPr>
          <a:lstStyle/>
          <a:p>
            <a:r>
              <a:rPr lang="en-AU" sz="2000" dirty="0"/>
              <a:t>The customer provide a blank GitHub organisation, Azure, and AWS account.</a:t>
            </a:r>
          </a:p>
          <a:p>
            <a:r>
              <a:rPr lang="en-AU" sz="2000" dirty="0"/>
              <a:t>ZenInstaller uses the user’s credentials to clone the Zenme Corp code into a new GitHub repo.</a:t>
            </a:r>
          </a:p>
          <a:p>
            <a:r>
              <a:rPr lang="en-AU" sz="2000" dirty="0"/>
              <a:t>The customer modify this Corp repo as needed.</a:t>
            </a:r>
          </a:p>
          <a:p>
            <a:r>
              <a:rPr lang="en-AU" sz="2000" dirty="0"/>
              <a:t>ZenInstaller deploy from the customer Corp repo into the customer’s Azure and AWS accounts.</a:t>
            </a:r>
          </a:p>
        </p:txBody>
      </p:sp>
      <p:pic>
        <p:nvPicPr>
          <p:cNvPr id="5" name="Graphic 4" descr="User with solid fill">
            <a:extLst>
              <a:ext uri="{FF2B5EF4-FFF2-40B4-BE49-F238E27FC236}">
                <a16:creationId xmlns:a16="http://schemas.microsoft.com/office/drawing/2014/main" id="{92B23A80-A6C9-8826-1438-3213DF4236A9}"/>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312789" y="2639679"/>
            <a:ext cx="479426" cy="520701"/>
          </a:xfrm>
          <a:prstGeom prst="rect">
            <a:avLst/>
          </a:prstGeom>
        </p:spPr>
      </p:pic>
      <p:sp>
        <p:nvSpPr>
          <p:cNvPr id="6" name="Rectangle: Rounded Corners 5">
            <a:extLst>
              <a:ext uri="{FF2B5EF4-FFF2-40B4-BE49-F238E27FC236}">
                <a16:creationId xmlns:a16="http://schemas.microsoft.com/office/drawing/2014/main" id="{7BF7CDA6-1ACE-0439-1F5A-447DD408124F}"/>
              </a:ext>
            </a:extLst>
          </p:cNvPr>
          <p:cNvSpPr/>
          <p:nvPr/>
        </p:nvSpPr>
        <p:spPr>
          <a:xfrm>
            <a:off x="1657309" y="3684492"/>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ZenInstaller</a:t>
            </a:r>
          </a:p>
          <a:p>
            <a:pPr algn="ctr"/>
            <a:r>
              <a:rPr lang="en-AU" sz="1600" dirty="0"/>
              <a:t>-Init-</a:t>
            </a:r>
          </a:p>
        </p:txBody>
      </p:sp>
      <p:sp>
        <p:nvSpPr>
          <p:cNvPr id="8" name="Rectangle: Rounded Corners 7">
            <a:extLst>
              <a:ext uri="{FF2B5EF4-FFF2-40B4-BE49-F238E27FC236}">
                <a16:creationId xmlns:a16="http://schemas.microsoft.com/office/drawing/2014/main" id="{B674EDEB-542D-9B1D-5FCB-8B9748C505DB}"/>
              </a:ext>
            </a:extLst>
          </p:cNvPr>
          <p:cNvSpPr/>
          <p:nvPr/>
        </p:nvSpPr>
        <p:spPr>
          <a:xfrm>
            <a:off x="4025455" y="3324492"/>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GitHub</a:t>
            </a:r>
          </a:p>
        </p:txBody>
      </p:sp>
      <p:sp>
        <p:nvSpPr>
          <p:cNvPr id="9" name="Rectangle: Rounded Corners 8">
            <a:extLst>
              <a:ext uri="{FF2B5EF4-FFF2-40B4-BE49-F238E27FC236}">
                <a16:creationId xmlns:a16="http://schemas.microsoft.com/office/drawing/2014/main" id="{38FA2109-058E-2AE6-EB8B-2FBE813D5423}"/>
              </a:ext>
            </a:extLst>
          </p:cNvPr>
          <p:cNvSpPr/>
          <p:nvPr/>
        </p:nvSpPr>
        <p:spPr>
          <a:xfrm>
            <a:off x="4025455" y="3811009"/>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Azure</a:t>
            </a:r>
          </a:p>
        </p:txBody>
      </p:sp>
      <p:sp>
        <p:nvSpPr>
          <p:cNvPr id="10" name="Rectangle: Rounded Corners 9">
            <a:extLst>
              <a:ext uri="{FF2B5EF4-FFF2-40B4-BE49-F238E27FC236}">
                <a16:creationId xmlns:a16="http://schemas.microsoft.com/office/drawing/2014/main" id="{8B43F9F8-FFBE-B26A-E83F-B84526F4074B}"/>
              </a:ext>
            </a:extLst>
          </p:cNvPr>
          <p:cNvSpPr/>
          <p:nvPr/>
        </p:nvSpPr>
        <p:spPr>
          <a:xfrm>
            <a:off x="4025455" y="4289492"/>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AWS</a:t>
            </a:r>
          </a:p>
        </p:txBody>
      </p:sp>
      <p:cxnSp>
        <p:nvCxnSpPr>
          <p:cNvPr id="15" name="Straight Connector 14">
            <a:extLst>
              <a:ext uri="{FF2B5EF4-FFF2-40B4-BE49-F238E27FC236}">
                <a16:creationId xmlns:a16="http://schemas.microsoft.com/office/drawing/2014/main" id="{EC3460D2-3AB7-C68F-55BC-B066AD77348D}"/>
              </a:ext>
            </a:extLst>
          </p:cNvPr>
          <p:cNvCxnSpPr>
            <a:cxnSpLocks/>
            <a:stCxn id="6" idx="3"/>
            <a:endCxn id="8" idx="1"/>
          </p:cNvCxnSpPr>
          <p:nvPr/>
        </p:nvCxnSpPr>
        <p:spPr>
          <a:xfrm flipV="1">
            <a:off x="3097309" y="3504492"/>
            <a:ext cx="928146" cy="450000"/>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cxnSp>
        <p:nvCxnSpPr>
          <p:cNvPr id="16" name="Straight Connector 15">
            <a:extLst>
              <a:ext uri="{FF2B5EF4-FFF2-40B4-BE49-F238E27FC236}">
                <a16:creationId xmlns:a16="http://schemas.microsoft.com/office/drawing/2014/main" id="{CDC861EA-8B85-5F72-F730-2CFFD65AAC94}"/>
              </a:ext>
            </a:extLst>
          </p:cNvPr>
          <p:cNvCxnSpPr>
            <a:cxnSpLocks/>
            <a:stCxn id="5" idx="2"/>
            <a:endCxn id="6" idx="1"/>
          </p:cNvCxnSpPr>
          <p:nvPr/>
        </p:nvCxnSpPr>
        <p:spPr>
          <a:xfrm rot="16200000" flipH="1">
            <a:off x="707849" y="3005032"/>
            <a:ext cx="794112" cy="1104807"/>
          </a:xfrm>
          <a:prstGeom prst="curvedConnector2">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FC0E738-42E8-E87E-19A6-0C36746265D1}"/>
              </a:ext>
            </a:extLst>
          </p:cNvPr>
          <p:cNvCxnSpPr>
            <a:cxnSpLocks/>
            <a:stCxn id="6" idx="3"/>
            <a:endCxn id="9" idx="1"/>
          </p:cNvCxnSpPr>
          <p:nvPr/>
        </p:nvCxnSpPr>
        <p:spPr>
          <a:xfrm>
            <a:off x="3097309" y="3954492"/>
            <a:ext cx="928146" cy="36517"/>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cxnSp>
        <p:nvCxnSpPr>
          <p:cNvPr id="29" name="Straight Connector 28">
            <a:extLst>
              <a:ext uri="{FF2B5EF4-FFF2-40B4-BE49-F238E27FC236}">
                <a16:creationId xmlns:a16="http://schemas.microsoft.com/office/drawing/2014/main" id="{F213BA31-A8C5-D082-3398-50203ABF0DBD}"/>
              </a:ext>
            </a:extLst>
          </p:cNvPr>
          <p:cNvCxnSpPr>
            <a:cxnSpLocks/>
            <a:stCxn id="6" idx="3"/>
            <a:endCxn id="10" idx="1"/>
          </p:cNvCxnSpPr>
          <p:nvPr/>
        </p:nvCxnSpPr>
        <p:spPr>
          <a:xfrm>
            <a:off x="3097309" y="3954492"/>
            <a:ext cx="928146" cy="515000"/>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sp>
        <p:nvSpPr>
          <p:cNvPr id="35" name="Rectangle: Rounded Corners 34">
            <a:extLst>
              <a:ext uri="{FF2B5EF4-FFF2-40B4-BE49-F238E27FC236}">
                <a16:creationId xmlns:a16="http://schemas.microsoft.com/office/drawing/2014/main" id="{4E8F2C7B-9F3B-1FBB-A8B9-BA2981DA7620}"/>
              </a:ext>
            </a:extLst>
          </p:cNvPr>
          <p:cNvSpPr/>
          <p:nvPr/>
        </p:nvSpPr>
        <p:spPr>
          <a:xfrm>
            <a:off x="6186764" y="3333967"/>
            <a:ext cx="180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Corp Repository</a:t>
            </a:r>
          </a:p>
        </p:txBody>
      </p:sp>
      <p:cxnSp>
        <p:nvCxnSpPr>
          <p:cNvPr id="36" name="Straight Connector 35">
            <a:extLst>
              <a:ext uri="{FF2B5EF4-FFF2-40B4-BE49-F238E27FC236}">
                <a16:creationId xmlns:a16="http://schemas.microsoft.com/office/drawing/2014/main" id="{4B9396CE-E663-6025-45BD-9B9372A2A649}"/>
              </a:ext>
            </a:extLst>
          </p:cNvPr>
          <p:cNvCxnSpPr>
            <a:cxnSpLocks/>
            <a:stCxn id="8" idx="3"/>
            <a:endCxn id="35" idx="1"/>
          </p:cNvCxnSpPr>
          <p:nvPr/>
        </p:nvCxnSpPr>
        <p:spPr>
          <a:xfrm>
            <a:off x="5105455" y="3504492"/>
            <a:ext cx="1081309" cy="9475"/>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sp>
        <p:nvSpPr>
          <p:cNvPr id="53" name="Rectangle: Rounded Corners 52">
            <a:extLst>
              <a:ext uri="{FF2B5EF4-FFF2-40B4-BE49-F238E27FC236}">
                <a16:creationId xmlns:a16="http://schemas.microsoft.com/office/drawing/2014/main" id="{2059C326-2BF8-3DEF-4135-6051569E20CD}"/>
              </a:ext>
            </a:extLst>
          </p:cNvPr>
          <p:cNvSpPr/>
          <p:nvPr/>
        </p:nvSpPr>
        <p:spPr>
          <a:xfrm>
            <a:off x="1657309" y="5695814"/>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ZenInstaller</a:t>
            </a:r>
          </a:p>
          <a:p>
            <a:pPr algn="ctr"/>
            <a:r>
              <a:rPr lang="en-AU" sz="1600" dirty="0"/>
              <a:t>-Deploy-</a:t>
            </a:r>
          </a:p>
        </p:txBody>
      </p:sp>
      <p:cxnSp>
        <p:nvCxnSpPr>
          <p:cNvPr id="60" name="Straight Connector 15">
            <a:extLst>
              <a:ext uri="{FF2B5EF4-FFF2-40B4-BE49-F238E27FC236}">
                <a16:creationId xmlns:a16="http://schemas.microsoft.com/office/drawing/2014/main" id="{194E4AE2-1149-64E4-16EB-6706C66330B9}"/>
              </a:ext>
            </a:extLst>
          </p:cNvPr>
          <p:cNvCxnSpPr>
            <a:cxnSpLocks/>
            <a:stCxn id="5" idx="2"/>
            <a:endCxn id="53" idx="1"/>
          </p:cNvCxnSpPr>
          <p:nvPr/>
        </p:nvCxnSpPr>
        <p:spPr>
          <a:xfrm rot="16200000" flipH="1">
            <a:off x="-297812" y="4010693"/>
            <a:ext cx="2805434" cy="1104807"/>
          </a:xfrm>
          <a:prstGeom prst="curvedConnector2">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65" name="Straight Connector 15">
            <a:extLst>
              <a:ext uri="{FF2B5EF4-FFF2-40B4-BE49-F238E27FC236}">
                <a16:creationId xmlns:a16="http://schemas.microsoft.com/office/drawing/2014/main" id="{8397F0D5-C9E9-437B-0496-A81D36447C85}"/>
              </a:ext>
            </a:extLst>
          </p:cNvPr>
          <p:cNvCxnSpPr>
            <a:cxnSpLocks/>
            <a:stCxn id="35" idx="2"/>
            <a:endCxn id="88" idx="0"/>
          </p:cNvCxnSpPr>
          <p:nvPr/>
        </p:nvCxnSpPr>
        <p:spPr>
          <a:xfrm rot="5400000">
            <a:off x="6470677" y="4310054"/>
            <a:ext cx="1232175" cy="12700"/>
          </a:xfrm>
          <a:prstGeom prst="bentConnector3">
            <a:avLst>
              <a:gd name="adj1" fmla="val 50000"/>
            </a:avLst>
          </a:prstGeom>
          <a:ln>
            <a:prstDash val="dash"/>
            <a:headEnd type="none" w="med" len="med"/>
            <a:tailEnd type="triangle" w="med" len="med"/>
          </a:ln>
        </p:spPr>
        <p:style>
          <a:lnRef idx="2">
            <a:schemeClr val="accent2"/>
          </a:lnRef>
          <a:fillRef idx="0">
            <a:schemeClr val="accent2"/>
          </a:fillRef>
          <a:effectRef idx="1">
            <a:schemeClr val="accent2"/>
          </a:effectRef>
          <a:fontRef idx="minor">
            <a:schemeClr val="tx1"/>
          </a:fontRef>
        </p:style>
      </p:cxnSp>
      <p:sp>
        <p:nvSpPr>
          <p:cNvPr id="72" name="Rectangle: Rounded Corners 71">
            <a:extLst>
              <a:ext uri="{FF2B5EF4-FFF2-40B4-BE49-F238E27FC236}">
                <a16:creationId xmlns:a16="http://schemas.microsoft.com/office/drawing/2014/main" id="{B42FD9E5-4397-567E-D329-7671D28DEE74}"/>
              </a:ext>
            </a:extLst>
          </p:cNvPr>
          <p:cNvSpPr/>
          <p:nvPr/>
        </p:nvSpPr>
        <p:spPr>
          <a:xfrm>
            <a:off x="5560478" y="5697917"/>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Azure</a:t>
            </a:r>
          </a:p>
        </p:txBody>
      </p:sp>
      <p:sp>
        <p:nvSpPr>
          <p:cNvPr id="73" name="Rectangle: Rounded Corners 72">
            <a:extLst>
              <a:ext uri="{FF2B5EF4-FFF2-40B4-BE49-F238E27FC236}">
                <a16:creationId xmlns:a16="http://schemas.microsoft.com/office/drawing/2014/main" id="{7B821AA0-FAB8-8F1A-E39C-EC28A6FEBCAE}"/>
              </a:ext>
            </a:extLst>
          </p:cNvPr>
          <p:cNvSpPr/>
          <p:nvPr/>
        </p:nvSpPr>
        <p:spPr>
          <a:xfrm>
            <a:off x="7533050" y="5697917"/>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AWS</a:t>
            </a:r>
          </a:p>
        </p:txBody>
      </p:sp>
      <p:cxnSp>
        <p:nvCxnSpPr>
          <p:cNvPr id="74" name="Straight Connector 15">
            <a:extLst>
              <a:ext uri="{FF2B5EF4-FFF2-40B4-BE49-F238E27FC236}">
                <a16:creationId xmlns:a16="http://schemas.microsoft.com/office/drawing/2014/main" id="{6F6FA9A1-5805-D333-650C-B4B46A0F8E9C}"/>
              </a:ext>
            </a:extLst>
          </p:cNvPr>
          <p:cNvCxnSpPr>
            <a:cxnSpLocks/>
            <a:stCxn id="88" idx="2"/>
            <a:endCxn id="72" idx="0"/>
          </p:cNvCxnSpPr>
          <p:nvPr/>
        </p:nvCxnSpPr>
        <p:spPr>
          <a:xfrm flipH="1">
            <a:off x="6100478" y="5286142"/>
            <a:ext cx="986286" cy="411775"/>
          </a:xfrm>
          <a:prstGeom prst="straightConnector1">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77" name="Straight Connector 15">
            <a:extLst>
              <a:ext uri="{FF2B5EF4-FFF2-40B4-BE49-F238E27FC236}">
                <a16:creationId xmlns:a16="http://schemas.microsoft.com/office/drawing/2014/main" id="{6026BA4D-A5DE-7B85-13B8-C23EBB3424CB}"/>
              </a:ext>
            </a:extLst>
          </p:cNvPr>
          <p:cNvCxnSpPr>
            <a:cxnSpLocks/>
            <a:stCxn id="88" idx="2"/>
            <a:endCxn id="73" idx="0"/>
          </p:cNvCxnSpPr>
          <p:nvPr/>
        </p:nvCxnSpPr>
        <p:spPr>
          <a:xfrm>
            <a:off x="7086764" y="5286142"/>
            <a:ext cx="986286" cy="411775"/>
          </a:xfrm>
          <a:prstGeom prst="straightConnector1">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sp>
        <p:nvSpPr>
          <p:cNvPr id="88" name="Rectangle: Rounded Corners 87">
            <a:extLst>
              <a:ext uri="{FF2B5EF4-FFF2-40B4-BE49-F238E27FC236}">
                <a16:creationId xmlns:a16="http://schemas.microsoft.com/office/drawing/2014/main" id="{B65787AF-BEBD-3D39-B239-5CF9E4C72AEF}"/>
              </a:ext>
            </a:extLst>
          </p:cNvPr>
          <p:cNvSpPr/>
          <p:nvPr/>
        </p:nvSpPr>
        <p:spPr>
          <a:xfrm>
            <a:off x="6186764" y="4926142"/>
            <a:ext cx="180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Code Deployer</a:t>
            </a:r>
          </a:p>
        </p:txBody>
      </p:sp>
      <p:cxnSp>
        <p:nvCxnSpPr>
          <p:cNvPr id="92" name="Straight Connector 15">
            <a:extLst>
              <a:ext uri="{FF2B5EF4-FFF2-40B4-BE49-F238E27FC236}">
                <a16:creationId xmlns:a16="http://schemas.microsoft.com/office/drawing/2014/main" id="{C0DE6055-E067-2787-FEC4-507A352F25D6}"/>
              </a:ext>
            </a:extLst>
          </p:cNvPr>
          <p:cNvCxnSpPr>
            <a:cxnSpLocks/>
            <a:stCxn id="53" idx="3"/>
            <a:endCxn id="88" idx="1"/>
          </p:cNvCxnSpPr>
          <p:nvPr/>
        </p:nvCxnSpPr>
        <p:spPr>
          <a:xfrm flipV="1">
            <a:off x="3097309" y="5106142"/>
            <a:ext cx="3089455" cy="859672"/>
          </a:xfrm>
          <a:prstGeom prst="straightConnector1">
            <a:avLst/>
          </a:prstGeom>
          <a:ln>
            <a:prstDash val="dash"/>
            <a:headEnd type="none" w="med" len="med"/>
            <a:tailEnd type="triangle" w="med" len="med"/>
          </a:ln>
        </p:spPr>
        <p:style>
          <a:lnRef idx="2">
            <a:schemeClr val="accent2"/>
          </a:lnRef>
          <a:fillRef idx="0">
            <a:schemeClr val="accent2"/>
          </a:fillRef>
          <a:effectRef idx="1">
            <a:schemeClr val="accent2"/>
          </a:effectRef>
          <a:fontRef idx="minor">
            <a:schemeClr val="tx1"/>
          </a:fontRef>
        </p:style>
      </p:cxnSp>
      <p:sp>
        <p:nvSpPr>
          <p:cNvPr id="129" name="Rectangle 128">
            <a:extLst>
              <a:ext uri="{FF2B5EF4-FFF2-40B4-BE49-F238E27FC236}">
                <a16:creationId xmlns:a16="http://schemas.microsoft.com/office/drawing/2014/main" id="{133143AC-6052-454A-7D7B-89F0FE2C4A8D}"/>
              </a:ext>
            </a:extLst>
          </p:cNvPr>
          <p:cNvSpPr/>
          <p:nvPr/>
        </p:nvSpPr>
        <p:spPr>
          <a:xfrm>
            <a:off x="2866417" y="3546167"/>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Init</a:t>
            </a:r>
          </a:p>
        </p:txBody>
      </p:sp>
      <p:sp>
        <p:nvSpPr>
          <p:cNvPr id="130" name="Rectangle 129">
            <a:extLst>
              <a:ext uri="{FF2B5EF4-FFF2-40B4-BE49-F238E27FC236}">
                <a16:creationId xmlns:a16="http://schemas.microsoft.com/office/drawing/2014/main" id="{2A8CD8E6-A312-CF1A-6C29-AAF8D4CB17BB}"/>
              </a:ext>
            </a:extLst>
          </p:cNvPr>
          <p:cNvSpPr/>
          <p:nvPr/>
        </p:nvSpPr>
        <p:spPr>
          <a:xfrm>
            <a:off x="3425339" y="5848543"/>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Deploy</a:t>
            </a:r>
          </a:p>
        </p:txBody>
      </p:sp>
    </p:spTree>
    <p:extLst>
      <p:ext uri="{BB962C8B-B14F-4D97-AF65-F5344CB8AC3E}">
        <p14:creationId xmlns:p14="http://schemas.microsoft.com/office/powerpoint/2010/main" val="2870420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C76C5-2387-C030-93D9-D426870C2C0C}"/>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7AC4CB0E-EFC0-43A7-BB72-3262B36F43AE}"/>
              </a:ext>
            </a:extLst>
          </p:cNvPr>
          <p:cNvSpPr/>
          <p:nvPr/>
        </p:nvSpPr>
        <p:spPr>
          <a:xfrm>
            <a:off x="2628512" y="3028746"/>
            <a:ext cx="7488286" cy="3461788"/>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Org Boundary</a:t>
            </a:r>
          </a:p>
        </p:txBody>
      </p:sp>
      <p:sp>
        <p:nvSpPr>
          <p:cNvPr id="24" name="Rectangle 23">
            <a:extLst>
              <a:ext uri="{FF2B5EF4-FFF2-40B4-BE49-F238E27FC236}">
                <a16:creationId xmlns:a16="http://schemas.microsoft.com/office/drawing/2014/main" id="{92D1ECB6-D702-D08D-5824-DE1D6315ABDD}"/>
              </a:ext>
            </a:extLst>
          </p:cNvPr>
          <p:cNvSpPr/>
          <p:nvPr/>
        </p:nvSpPr>
        <p:spPr>
          <a:xfrm>
            <a:off x="5023066" y="3154924"/>
            <a:ext cx="4941331" cy="1047325"/>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App Domain</a:t>
            </a:r>
          </a:p>
        </p:txBody>
      </p:sp>
      <p:sp>
        <p:nvSpPr>
          <p:cNvPr id="2" name="Title 1">
            <a:extLst>
              <a:ext uri="{FF2B5EF4-FFF2-40B4-BE49-F238E27FC236}">
                <a16:creationId xmlns:a16="http://schemas.microsoft.com/office/drawing/2014/main" id="{156E9423-6C6A-3C26-A1C9-9A655074117F}"/>
              </a:ext>
            </a:extLst>
          </p:cNvPr>
          <p:cNvSpPr>
            <a:spLocks noGrp="1"/>
          </p:cNvSpPr>
          <p:nvPr>
            <p:ph type="title"/>
          </p:nvPr>
        </p:nvSpPr>
        <p:spPr/>
        <p:txBody>
          <a:bodyPr/>
          <a:lstStyle/>
          <a:p>
            <a:r>
              <a:rPr lang="en-AU" dirty="0"/>
              <a:t>App Authentication Architecture</a:t>
            </a:r>
          </a:p>
        </p:txBody>
      </p:sp>
      <p:sp>
        <p:nvSpPr>
          <p:cNvPr id="3" name="Content Placeholder 2">
            <a:extLst>
              <a:ext uri="{FF2B5EF4-FFF2-40B4-BE49-F238E27FC236}">
                <a16:creationId xmlns:a16="http://schemas.microsoft.com/office/drawing/2014/main" id="{9A822221-5F87-8818-95F2-705E15906285}"/>
              </a:ext>
            </a:extLst>
          </p:cNvPr>
          <p:cNvSpPr>
            <a:spLocks noGrp="1"/>
          </p:cNvSpPr>
          <p:nvPr>
            <p:ph idx="1"/>
          </p:nvPr>
        </p:nvSpPr>
        <p:spPr>
          <a:xfrm>
            <a:off x="348343" y="823584"/>
            <a:ext cx="11355977" cy="1942143"/>
          </a:xfrm>
        </p:spPr>
        <p:txBody>
          <a:bodyPr>
            <a:normAutofit/>
          </a:bodyPr>
          <a:lstStyle/>
          <a:p>
            <a:pPr>
              <a:lnSpc>
                <a:spcPct val="100000"/>
              </a:lnSpc>
              <a:spcBef>
                <a:spcPts val="600"/>
              </a:spcBef>
            </a:pPr>
            <a:r>
              <a:rPr lang="en-AU" sz="1600" dirty="0"/>
              <a:t>The app architecture has double layer authentication. Initial authentication occurs at the CDN (content delivery network) layer, which then saves the authentication token to a cookie.</a:t>
            </a:r>
          </a:p>
          <a:p>
            <a:pPr>
              <a:lnSpc>
                <a:spcPct val="100000"/>
              </a:lnSpc>
              <a:spcBef>
                <a:spcPts val="600"/>
              </a:spcBef>
            </a:pPr>
            <a:r>
              <a:rPr lang="en-AU" sz="1600" dirty="0"/>
              <a:t>All traffic to applications within the organisation is accompanied by the auth token that is verified by any application function that is called.</a:t>
            </a:r>
          </a:p>
          <a:p>
            <a:pPr>
              <a:lnSpc>
                <a:spcPct val="100000"/>
              </a:lnSpc>
              <a:spcBef>
                <a:spcPts val="600"/>
              </a:spcBef>
            </a:pPr>
            <a:r>
              <a:rPr lang="en-AU" sz="1600" dirty="0"/>
              <a:t>Applications are hosted in independent app domains so that they cannot interfere with each other. In some cases, an app may require specialised authentication tokens which it can obtain for itself.</a:t>
            </a:r>
          </a:p>
        </p:txBody>
      </p:sp>
      <p:pic>
        <p:nvPicPr>
          <p:cNvPr id="5" name="Graphic 4" descr="User with solid fill">
            <a:extLst>
              <a:ext uri="{FF2B5EF4-FFF2-40B4-BE49-F238E27FC236}">
                <a16:creationId xmlns:a16="http://schemas.microsoft.com/office/drawing/2014/main" id="{C40B9105-1CFE-2653-A5A9-8DC2B984D009}"/>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821908" y="3465064"/>
            <a:ext cx="479426" cy="520701"/>
          </a:xfrm>
          <a:prstGeom prst="rect">
            <a:avLst/>
          </a:prstGeom>
        </p:spPr>
      </p:pic>
      <p:sp>
        <p:nvSpPr>
          <p:cNvPr id="6" name="Rectangle: Rounded Corners 5">
            <a:extLst>
              <a:ext uri="{FF2B5EF4-FFF2-40B4-BE49-F238E27FC236}">
                <a16:creationId xmlns:a16="http://schemas.microsoft.com/office/drawing/2014/main" id="{5B98B53A-C594-42D0-8EC7-B90397CFD049}"/>
              </a:ext>
            </a:extLst>
          </p:cNvPr>
          <p:cNvSpPr/>
          <p:nvPr/>
        </p:nvSpPr>
        <p:spPr>
          <a:xfrm>
            <a:off x="2765618" y="346506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CDN</a:t>
            </a:r>
          </a:p>
        </p:txBody>
      </p:sp>
      <p:sp>
        <p:nvSpPr>
          <p:cNvPr id="7" name="Rectangle: Rounded Corners 6">
            <a:extLst>
              <a:ext uri="{FF2B5EF4-FFF2-40B4-BE49-F238E27FC236}">
                <a16:creationId xmlns:a16="http://schemas.microsoft.com/office/drawing/2014/main" id="{8A191FA6-5CEA-BEDD-8873-114CFF6263E4}"/>
              </a:ext>
            </a:extLst>
          </p:cNvPr>
          <p:cNvSpPr/>
          <p:nvPr/>
        </p:nvSpPr>
        <p:spPr>
          <a:xfrm>
            <a:off x="5167721" y="346506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Gateway</a:t>
            </a:r>
          </a:p>
        </p:txBody>
      </p:sp>
      <p:sp>
        <p:nvSpPr>
          <p:cNvPr id="8" name="Rectangle: Rounded Corners 7">
            <a:extLst>
              <a:ext uri="{FF2B5EF4-FFF2-40B4-BE49-F238E27FC236}">
                <a16:creationId xmlns:a16="http://schemas.microsoft.com/office/drawing/2014/main" id="{2F6718D5-198A-610D-9556-438F62DC817A}"/>
              </a:ext>
            </a:extLst>
          </p:cNvPr>
          <p:cNvSpPr/>
          <p:nvPr/>
        </p:nvSpPr>
        <p:spPr>
          <a:xfrm>
            <a:off x="2867888" y="3884050"/>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SSL</a:t>
            </a:r>
          </a:p>
        </p:txBody>
      </p:sp>
      <p:sp>
        <p:nvSpPr>
          <p:cNvPr id="10" name="Rectangle: Rounded Corners 9">
            <a:extLst>
              <a:ext uri="{FF2B5EF4-FFF2-40B4-BE49-F238E27FC236}">
                <a16:creationId xmlns:a16="http://schemas.microsoft.com/office/drawing/2014/main" id="{CD0242B2-D816-B168-99A7-2DD000D5DAF9}"/>
              </a:ext>
            </a:extLst>
          </p:cNvPr>
          <p:cNvSpPr/>
          <p:nvPr/>
        </p:nvSpPr>
        <p:spPr>
          <a:xfrm>
            <a:off x="2765618" y="5970319"/>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Entra ID</a:t>
            </a:r>
          </a:p>
        </p:txBody>
      </p:sp>
      <p:cxnSp>
        <p:nvCxnSpPr>
          <p:cNvPr id="11" name="Straight Connector 10">
            <a:extLst>
              <a:ext uri="{FF2B5EF4-FFF2-40B4-BE49-F238E27FC236}">
                <a16:creationId xmlns:a16="http://schemas.microsoft.com/office/drawing/2014/main" id="{AB5DB042-304F-6352-C853-2FFC319D4AF9}"/>
              </a:ext>
            </a:extLst>
          </p:cNvPr>
          <p:cNvCxnSpPr>
            <a:stCxn id="5" idx="3"/>
            <a:endCxn id="6" idx="1"/>
          </p:cNvCxnSpPr>
          <p:nvPr/>
        </p:nvCxnSpPr>
        <p:spPr>
          <a:xfrm>
            <a:off x="1301334" y="3725415"/>
            <a:ext cx="1464284" cy="9649"/>
          </a:xfrm>
          <a:prstGeom prst="line">
            <a:avLst/>
          </a:prstGeom>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B1381041-4503-C272-F05C-76C1F68B1108}"/>
              </a:ext>
            </a:extLst>
          </p:cNvPr>
          <p:cNvSpPr/>
          <p:nvPr/>
        </p:nvSpPr>
        <p:spPr>
          <a:xfrm>
            <a:off x="1427888" y="3748258"/>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https://...</a:t>
            </a:r>
          </a:p>
        </p:txBody>
      </p:sp>
      <p:sp>
        <p:nvSpPr>
          <p:cNvPr id="15" name="Rectangle: Rounded Corners 14">
            <a:extLst>
              <a:ext uri="{FF2B5EF4-FFF2-40B4-BE49-F238E27FC236}">
                <a16:creationId xmlns:a16="http://schemas.microsoft.com/office/drawing/2014/main" id="{2930F94F-B99B-1DC5-49BA-E6A26451E147}"/>
              </a:ext>
            </a:extLst>
          </p:cNvPr>
          <p:cNvSpPr/>
          <p:nvPr/>
        </p:nvSpPr>
        <p:spPr>
          <a:xfrm>
            <a:off x="3414317" y="3887876"/>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Auth</a:t>
            </a:r>
          </a:p>
        </p:txBody>
      </p:sp>
      <p:cxnSp>
        <p:nvCxnSpPr>
          <p:cNvPr id="16" name="Straight Connector 15">
            <a:extLst>
              <a:ext uri="{FF2B5EF4-FFF2-40B4-BE49-F238E27FC236}">
                <a16:creationId xmlns:a16="http://schemas.microsoft.com/office/drawing/2014/main" id="{4A1835A8-07EC-7EC2-9C20-7BAD2A91F742}"/>
              </a:ext>
            </a:extLst>
          </p:cNvPr>
          <p:cNvCxnSpPr>
            <a:cxnSpLocks/>
            <a:stCxn id="15" idx="2"/>
            <a:endCxn id="10" idx="0"/>
          </p:cNvCxnSpPr>
          <p:nvPr/>
        </p:nvCxnSpPr>
        <p:spPr>
          <a:xfrm flipH="1">
            <a:off x="3305618" y="4247876"/>
            <a:ext cx="288699" cy="1722443"/>
          </a:xfrm>
          <a:prstGeom prst="line">
            <a:avLst/>
          </a:prstGeom>
          <a:ln>
            <a:prstDash val="lgDash"/>
          </a:ln>
        </p:spPr>
        <p:style>
          <a:lnRef idx="2">
            <a:schemeClr val="accent6"/>
          </a:lnRef>
          <a:fillRef idx="0">
            <a:schemeClr val="accent6"/>
          </a:fillRef>
          <a:effectRef idx="1">
            <a:schemeClr val="accent6"/>
          </a:effectRef>
          <a:fontRef idx="minor">
            <a:schemeClr val="tx1"/>
          </a:fontRef>
        </p:style>
      </p:cxnSp>
      <p:sp>
        <p:nvSpPr>
          <p:cNvPr id="21" name="Rectangle: Rounded Corners 20">
            <a:extLst>
              <a:ext uri="{FF2B5EF4-FFF2-40B4-BE49-F238E27FC236}">
                <a16:creationId xmlns:a16="http://schemas.microsoft.com/office/drawing/2014/main" id="{90FC0BDA-67BD-50B5-6F36-5A8426B3AC73}"/>
              </a:ext>
            </a:extLst>
          </p:cNvPr>
          <p:cNvSpPr/>
          <p:nvPr/>
        </p:nvSpPr>
        <p:spPr>
          <a:xfrm>
            <a:off x="6705169" y="3357280"/>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Web Resources</a:t>
            </a:r>
          </a:p>
        </p:txBody>
      </p:sp>
      <p:sp>
        <p:nvSpPr>
          <p:cNvPr id="22" name="Rectangle: Rounded Corners 21">
            <a:extLst>
              <a:ext uri="{FF2B5EF4-FFF2-40B4-BE49-F238E27FC236}">
                <a16:creationId xmlns:a16="http://schemas.microsoft.com/office/drawing/2014/main" id="{43003A6B-B266-2945-0B16-AFEF83F5D2CA}"/>
              </a:ext>
            </a:extLst>
          </p:cNvPr>
          <p:cNvSpPr/>
          <p:nvPr/>
        </p:nvSpPr>
        <p:spPr>
          <a:xfrm>
            <a:off x="8483489" y="346506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DB</a:t>
            </a:r>
          </a:p>
        </p:txBody>
      </p:sp>
      <p:sp>
        <p:nvSpPr>
          <p:cNvPr id="25" name="Rectangle 24">
            <a:extLst>
              <a:ext uri="{FF2B5EF4-FFF2-40B4-BE49-F238E27FC236}">
                <a16:creationId xmlns:a16="http://schemas.microsoft.com/office/drawing/2014/main" id="{CE1B5A9A-8A94-DC3B-131D-25A51FDDE4AD}"/>
              </a:ext>
            </a:extLst>
          </p:cNvPr>
          <p:cNvSpPr/>
          <p:nvPr/>
        </p:nvSpPr>
        <p:spPr>
          <a:xfrm>
            <a:off x="5023066" y="4473872"/>
            <a:ext cx="4941331" cy="1047325"/>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App Domain</a:t>
            </a:r>
          </a:p>
        </p:txBody>
      </p:sp>
      <p:sp>
        <p:nvSpPr>
          <p:cNvPr id="26" name="Rectangle: Rounded Corners 25">
            <a:extLst>
              <a:ext uri="{FF2B5EF4-FFF2-40B4-BE49-F238E27FC236}">
                <a16:creationId xmlns:a16="http://schemas.microsoft.com/office/drawing/2014/main" id="{F1D740C0-D227-E36A-4C24-0C2D682701C4}"/>
              </a:ext>
            </a:extLst>
          </p:cNvPr>
          <p:cNvSpPr/>
          <p:nvPr/>
        </p:nvSpPr>
        <p:spPr>
          <a:xfrm>
            <a:off x="5167721" y="4784012"/>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Gateway</a:t>
            </a:r>
          </a:p>
        </p:txBody>
      </p:sp>
      <p:sp>
        <p:nvSpPr>
          <p:cNvPr id="27" name="Rectangle: Rounded Corners 26">
            <a:extLst>
              <a:ext uri="{FF2B5EF4-FFF2-40B4-BE49-F238E27FC236}">
                <a16:creationId xmlns:a16="http://schemas.microsoft.com/office/drawing/2014/main" id="{624F2ED6-7D9B-54FC-A25A-574238397C63}"/>
              </a:ext>
            </a:extLst>
          </p:cNvPr>
          <p:cNvSpPr/>
          <p:nvPr/>
        </p:nvSpPr>
        <p:spPr>
          <a:xfrm>
            <a:off x="6705169" y="4676228"/>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Web Resources</a:t>
            </a:r>
          </a:p>
        </p:txBody>
      </p:sp>
      <p:sp>
        <p:nvSpPr>
          <p:cNvPr id="28" name="Rectangle: Rounded Corners 27">
            <a:extLst>
              <a:ext uri="{FF2B5EF4-FFF2-40B4-BE49-F238E27FC236}">
                <a16:creationId xmlns:a16="http://schemas.microsoft.com/office/drawing/2014/main" id="{40DB72D3-ECC6-C427-AE70-5CF854293E9D}"/>
              </a:ext>
            </a:extLst>
          </p:cNvPr>
          <p:cNvSpPr/>
          <p:nvPr/>
        </p:nvSpPr>
        <p:spPr>
          <a:xfrm>
            <a:off x="8483489" y="4784012"/>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DB</a:t>
            </a:r>
          </a:p>
        </p:txBody>
      </p:sp>
      <p:cxnSp>
        <p:nvCxnSpPr>
          <p:cNvPr id="29" name="Straight Connector 28">
            <a:extLst>
              <a:ext uri="{FF2B5EF4-FFF2-40B4-BE49-F238E27FC236}">
                <a16:creationId xmlns:a16="http://schemas.microsoft.com/office/drawing/2014/main" id="{0E2D2930-7922-9DC8-495A-FED611F2EC12}"/>
              </a:ext>
            </a:extLst>
          </p:cNvPr>
          <p:cNvCxnSpPr>
            <a:cxnSpLocks/>
            <a:stCxn id="6" idx="3"/>
            <a:endCxn id="7" idx="1"/>
          </p:cNvCxnSpPr>
          <p:nvPr/>
        </p:nvCxnSpPr>
        <p:spPr>
          <a:xfrm>
            <a:off x="3845618" y="3735064"/>
            <a:ext cx="132210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EB2A6AF4-B284-AC62-B46E-B7104F03F142}"/>
              </a:ext>
            </a:extLst>
          </p:cNvPr>
          <p:cNvCxnSpPr>
            <a:cxnSpLocks/>
            <a:stCxn id="6" idx="3"/>
            <a:endCxn id="26" idx="1"/>
          </p:cNvCxnSpPr>
          <p:nvPr/>
        </p:nvCxnSpPr>
        <p:spPr>
          <a:xfrm>
            <a:off x="3845618" y="3735064"/>
            <a:ext cx="1322103" cy="1318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EDDECC74-5DF4-AD5E-93AC-44D6F7BB1D6B}"/>
              </a:ext>
            </a:extLst>
          </p:cNvPr>
          <p:cNvCxnSpPr>
            <a:cxnSpLocks/>
            <a:stCxn id="48" idx="2"/>
            <a:endCxn id="10" idx="0"/>
          </p:cNvCxnSpPr>
          <p:nvPr/>
        </p:nvCxnSpPr>
        <p:spPr>
          <a:xfrm rot="5400000">
            <a:off x="4441752" y="2986902"/>
            <a:ext cx="1847284" cy="4119551"/>
          </a:xfrm>
          <a:prstGeom prst="curvedConnector3">
            <a:avLst>
              <a:gd name="adj1" fmla="val 12528"/>
            </a:avLst>
          </a:prstGeom>
          <a:ln>
            <a:prstDash val="lgDash"/>
          </a:ln>
        </p:spPr>
        <p:style>
          <a:lnRef idx="2">
            <a:schemeClr val="accent6"/>
          </a:lnRef>
          <a:fillRef idx="0">
            <a:schemeClr val="accent6"/>
          </a:fillRef>
          <a:effectRef idx="1">
            <a:schemeClr val="accent6"/>
          </a:effectRef>
          <a:fontRef idx="minor">
            <a:schemeClr val="tx1"/>
          </a:fontRef>
        </p:style>
      </p:cxnSp>
      <p:cxnSp>
        <p:nvCxnSpPr>
          <p:cNvPr id="38" name="Straight Connector 37">
            <a:extLst>
              <a:ext uri="{FF2B5EF4-FFF2-40B4-BE49-F238E27FC236}">
                <a16:creationId xmlns:a16="http://schemas.microsoft.com/office/drawing/2014/main" id="{0ADE8154-ABBA-28E2-E117-AF3A4D0CB364}"/>
              </a:ext>
            </a:extLst>
          </p:cNvPr>
          <p:cNvCxnSpPr>
            <a:cxnSpLocks/>
            <a:stCxn id="49" idx="2"/>
            <a:endCxn id="10" idx="0"/>
          </p:cNvCxnSpPr>
          <p:nvPr/>
        </p:nvCxnSpPr>
        <p:spPr>
          <a:xfrm rot="5400000">
            <a:off x="5101226" y="3646376"/>
            <a:ext cx="528336" cy="4119551"/>
          </a:xfrm>
          <a:prstGeom prst="curvedConnector3">
            <a:avLst>
              <a:gd name="adj1" fmla="val 50000"/>
            </a:avLst>
          </a:prstGeom>
          <a:ln>
            <a:prstDash val="lgDash"/>
          </a:ln>
        </p:spPr>
        <p:style>
          <a:lnRef idx="2">
            <a:schemeClr val="accent6"/>
          </a:lnRef>
          <a:fillRef idx="0">
            <a:schemeClr val="accent6"/>
          </a:fillRef>
          <a:effectRef idx="1">
            <a:schemeClr val="accent6"/>
          </a:effectRef>
          <a:fontRef idx="minor">
            <a:schemeClr val="tx1"/>
          </a:fontRef>
        </p:style>
      </p:cxnSp>
      <p:sp>
        <p:nvSpPr>
          <p:cNvPr id="44" name="Rectangle 43">
            <a:extLst>
              <a:ext uri="{FF2B5EF4-FFF2-40B4-BE49-F238E27FC236}">
                <a16:creationId xmlns:a16="http://schemas.microsoft.com/office/drawing/2014/main" id="{8C5C377A-71DF-5E85-10E8-AEC476A1D4E7}"/>
              </a:ext>
            </a:extLst>
          </p:cNvPr>
          <p:cNvSpPr/>
          <p:nvPr/>
        </p:nvSpPr>
        <p:spPr>
          <a:xfrm>
            <a:off x="3324317" y="5487407"/>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End user Authentication</a:t>
            </a:r>
          </a:p>
        </p:txBody>
      </p:sp>
      <p:sp>
        <p:nvSpPr>
          <p:cNvPr id="46" name="Rectangle 45">
            <a:extLst>
              <a:ext uri="{FF2B5EF4-FFF2-40B4-BE49-F238E27FC236}">
                <a16:creationId xmlns:a16="http://schemas.microsoft.com/office/drawing/2014/main" id="{6C3F08C8-9DBA-5365-22D3-CC1D31947348}"/>
              </a:ext>
            </a:extLst>
          </p:cNvPr>
          <p:cNvSpPr/>
          <p:nvPr/>
        </p:nvSpPr>
        <p:spPr>
          <a:xfrm>
            <a:off x="4052071" y="3830719"/>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Internal </a:t>
            </a:r>
            <a:br>
              <a:rPr lang="en-AU" sz="1200" dirty="0"/>
            </a:br>
            <a:r>
              <a:rPr lang="en-AU" sz="1200" dirty="0"/>
              <a:t>App traffic</a:t>
            </a:r>
          </a:p>
        </p:txBody>
      </p:sp>
      <p:sp>
        <p:nvSpPr>
          <p:cNvPr id="48" name="Rectangle: Rounded Corners 47">
            <a:extLst>
              <a:ext uri="{FF2B5EF4-FFF2-40B4-BE49-F238E27FC236}">
                <a16:creationId xmlns:a16="http://schemas.microsoft.com/office/drawing/2014/main" id="{FDE53EED-2573-03CF-E23C-F4F84EF52AE0}"/>
              </a:ext>
            </a:extLst>
          </p:cNvPr>
          <p:cNvSpPr/>
          <p:nvPr/>
        </p:nvSpPr>
        <p:spPr>
          <a:xfrm>
            <a:off x="6705169" y="3763035"/>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Functions</a:t>
            </a:r>
          </a:p>
        </p:txBody>
      </p:sp>
      <p:sp>
        <p:nvSpPr>
          <p:cNvPr id="49" name="Rectangle: Rounded Corners 48">
            <a:extLst>
              <a:ext uri="{FF2B5EF4-FFF2-40B4-BE49-F238E27FC236}">
                <a16:creationId xmlns:a16="http://schemas.microsoft.com/office/drawing/2014/main" id="{89AC4106-AC8D-50A7-33D3-B31CCE8404B5}"/>
              </a:ext>
            </a:extLst>
          </p:cNvPr>
          <p:cNvSpPr/>
          <p:nvPr/>
        </p:nvSpPr>
        <p:spPr>
          <a:xfrm>
            <a:off x="6705169" y="5081983"/>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Functions</a:t>
            </a:r>
          </a:p>
        </p:txBody>
      </p:sp>
      <p:cxnSp>
        <p:nvCxnSpPr>
          <p:cNvPr id="50" name="Straight Connector 49">
            <a:extLst>
              <a:ext uri="{FF2B5EF4-FFF2-40B4-BE49-F238E27FC236}">
                <a16:creationId xmlns:a16="http://schemas.microsoft.com/office/drawing/2014/main" id="{36EDB83A-0472-5FDF-E978-5CE15308B910}"/>
              </a:ext>
            </a:extLst>
          </p:cNvPr>
          <p:cNvCxnSpPr>
            <a:cxnSpLocks/>
            <a:stCxn id="7" idx="3"/>
            <a:endCxn id="21" idx="1"/>
          </p:cNvCxnSpPr>
          <p:nvPr/>
        </p:nvCxnSpPr>
        <p:spPr>
          <a:xfrm flipV="1">
            <a:off x="6247721" y="3537280"/>
            <a:ext cx="457448" cy="197784"/>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AED9A754-4F4E-B714-71B6-6447B2ACE31C}"/>
              </a:ext>
            </a:extLst>
          </p:cNvPr>
          <p:cNvCxnSpPr>
            <a:cxnSpLocks/>
            <a:stCxn id="7" idx="3"/>
            <a:endCxn id="48" idx="1"/>
          </p:cNvCxnSpPr>
          <p:nvPr/>
        </p:nvCxnSpPr>
        <p:spPr>
          <a:xfrm>
            <a:off x="6247721" y="3735064"/>
            <a:ext cx="457448"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584CCA8A-77B0-B107-C5B9-2325EA18CBDC}"/>
              </a:ext>
            </a:extLst>
          </p:cNvPr>
          <p:cNvCxnSpPr>
            <a:cxnSpLocks/>
            <a:stCxn id="26" idx="3"/>
            <a:endCxn id="27" idx="1"/>
          </p:cNvCxnSpPr>
          <p:nvPr/>
        </p:nvCxnSpPr>
        <p:spPr>
          <a:xfrm flipV="1">
            <a:off x="6247721" y="4856228"/>
            <a:ext cx="457448" cy="1977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77E49B69-7F5D-F94D-DD05-8CAD8C12FEFB}"/>
              </a:ext>
            </a:extLst>
          </p:cNvPr>
          <p:cNvCxnSpPr>
            <a:cxnSpLocks/>
            <a:stCxn id="26" idx="3"/>
            <a:endCxn id="49" idx="1"/>
          </p:cNvCxnSpPr>
          <p:nvPr/>
        </p:nvCxnSpPr>
        <p:spPr>
          <a:xfrm>
            <a:off x="6247721" y="5054012"/>
            <a:ext cx="457448"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1F61EBD6-0624-50E2-EBA0-D2CF356AED80}"/>
              </a:ext>
            </a:extLst>
          </p:cNvPr>
          <p:cNvCxnSpPr>
            <a:cxnSpLocks/>
            <a:stCxn id="49" idx="3"/>
            <a:endCxn id="28" idx="1"/>
          </p:cNvCxnSpPr>
          <p:nvPr/>
        </p:nvCxnSpPr>
        <p:spPr>
          <a:xfrm flipV="1">
            <a:off x="8145169" y="5054012"/>
            <a:ext cx="338320"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2CAF4E23-472C-3D5B-3921-57847ADD118A}"/>
              </a:ext>
            </a:extLst>
          </p:cNvPr>
          <p:cNvCxnSpPr>
            <a:cxnSpLocks/>
            <a:stCxn id="48" idx="3"/>
            <a:endCxn id="22" idx="1"/>
          </p:cNvCxnSpPr>
          <p:nvPr/>
        </p:nvCxnSpPr>
        <p:spPr>
          <a:xfrm flipV="1">
            <a:off x="8145169" y="3735064"/>
            <a:ext cx="338320" cy="207971"/>
          </a:xfrm>
          <a:prstGeom prst="line">
            <a:avLst/>
          </a:prstGeom>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27EA0AFE-8743-D286-B43D-F35E8504BDC4}"/>
              </a:ext>
            </a:extLst>
          </p:cNvPr>
          <p:cNvSpPr/>
          <p:nvPr/>
        </p:nvSpPr>
        <p:spPr>
          <a:xfrm>
            <a:off x="715763" y="4005064"/>
            <a:ext cx="691716"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Users</a:t>
            </a:r>
          </a:p>
        </p:txBody>
      </p:sp>
    </p:spTree>
    <p:extLst>
      <p:ext uri="{BB962C8B-B14F-4D97-AF65-F5344CB8AC3E}">
        <p14:creationId xmlns:p14="http://schemas.microsoft.com/office/powerpoint/2010/main" val="21651081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FC0A2-41E5-7351-8C7C-EE558BAA69E9}"/>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3FBED623-1384-E840-63CB-9DD3C52A3D4E}"/>
              </a:ext>
            </a:extLst>
          </p:cNvPr>
          <p:cNvSpPr/>
          <p:nvPr/>
        </p:nvSpPr>
        <p:spPr>
          <a:xfrm>
            <a:off x="697163" y="2296874"/>
            <a:ext cx="8831398" cy="3742871"/>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Org Boundary</a:t>
            </a:r>
          </a:p>
        </p:txBody>
      </p:sp>
      <p:sp>
        <p:nvSpPr>
          <p:cNvPr id="24" name="Rectangle 23">
            <a:extLst>
              <a:ext uri="{FF2B5EF4-FFF2-40B4-BE49-F238E27FC236}">
                <a16:creationId xmlns:a16="http://schemas.microsoft.com/office/drawing/2014/main" id="{8789EB18-4511-5062-F4CF-6E7F7CB5A3C1}"/>
              </a:ext>
            </a:extLst>
          </p:cNvPr>
          <p:cNvSpPr/>
          <p:nvPr/>
        </p:nvSpPr>
        <p:spPr>
          <a:xfrm>
            <a:off x="834269" y="2906491"/>
            <a:ext cx="4454219" cy="1047325"/>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App Domain</a:t>
            </a:r>
          </a:p>
        </p:txBody>
      </p:sp>
      <p:sp>
        <p:nvSpPr>
          <p:cNvPr id="2" name="Title 1">
            <a:extLst>
              <a:ext uri="{FF2B5EF4-FFF2-40B4-BE49-F238E27FC236}">
                <a16:creationId xmlns:a16="http://schemas.microsoft.com/office/drawing/2014/main" id="{8D76DA40-BBCD-84FE-49A2-F288643C70A9}"/>
              </a:ext>
            </a:extLst>
          </p:cNvPr>
          <p:cNvSpPr>
            <a:spLocks noGrp="1"/>
          </p:cNvSpPr>
          <p:nvPr>
            <p:ph type="title"/>
          </p:nvPr>
        </p:nvSpPr>
        <p:spPr/>
        <p:txBody>
          <a:bodyPr/>
          <a:lstStyle/>
          <a:p>
            <a:r>
              <a:rPr lang="en-AU" dirty="0"/>
              <a:t>Support Architecture</a:t>
            </a:r>
          </a:p>
        </p:txBody>
      </p:sp>
      <p:sp>
        <p:nvSpPr>
          <p:cNvPr id="3" name="Content Placeholder 2">
            <a:extLst>
              <a:ext uri="{FF2B5EF4-FFF2-40B4-BE49-F238E27FC236}">
                <a16:creationId xmlns:a16="http://schemas.microsoft.com/office/drawing/2014/main" id="{9C4DC6AC-D697-F667-0442-89FA6D1B1623}"/>
              </a:ext>
            </a:extLst>
          </p:cNvPr>
          <p:cNvSpPr>
            <a:spLocks noGrp="1"/>
          </p:cNvSpPr>
          <p:nvPr>
            <p:ph idx="1"/>
          </p:nvPr>
        </p:nvSpPr>
        <p:spPr>
          <a:xfrm>
            <a:off x="346645" y="856525"/>
            <a:ext cx="11355976" cy="1262832"/>
          </a:xfrm>
        </p:spPr>
        <p:txBody>
          <a:bodyPr>
            <a:normAutofit fontScale="92500" lnSpcReduction="10000"/>
          </a:bodyPr>
          <a:lstStyle/>
          <a:p>
            <a:pPr>
              <a:lnSpc>
                <a:spcPct val="120000"/>
              </a:lnSpc>
              <a:spcBef>
                <a:spcPts val="600"/>
              </a:spcBef>
            </a:pPr>
            <a:r>
              <a:rPr lang="en-AU" sz="1600" dirty="0"/>
              <a:t>App support staff only has admin access to the App domain that they support.</a:t>
            </a:r>
          </a:p>
          <a:p>
            <a:pPr>
              <a:lnSpc>
                <a:spcPct val="120000"/>
              </a:lnSpc>
              <a:spcBef>
                <a:spcPts val="600"/>
              </a:spcBef>
            </a:pPr>
            <a:r>
              <a:rPr lang="en-AU" sz="1600" dirty="0"/>
              <a:t>Org Admin staff have higher level access to make changes to shared resources.</a:t>
            </a:r>
          </a:p>
          <a:p>
            <a:pPr>
              <a:lnSpc>
                <a:spcPct val="120000"/>
              </a:lnSpc>
              <a:spcBef>
                <a:spcPts val="600"/>
              </a:spcBef>
            </a:pPr>
            <a:r>
              <a:rPr lang="en-AU" sz="1600" dirty="0"/>
              <a:t>If an app require changes to shared resources, the app support staff create deployment scripts and ask the org admin to deploy it after proving it through testing.</a:t>
            </a:r>
          </a:p>
        </p:txBody>
      </p:sp>
      <p:pic>
        <p:nvPicPr>
          <p:cNvPr id="5" name="Graphic 4" descr="User with solid fill">
            <a:extLst>
              <a:ext uri="{FF2B5EF4-FFF2-40B4-BE49-F238E27FC236}">
                <a16:creationId xmlns:a16="http://schemas.microsoft.com/office/drawing/2014/main" id="{C55D2DA3-68CD-2EF2-D62E-56C2B76E4537}"/>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11114087" y="2577957"/>
            <a:ext cx="479426" cy="520701"/>
          </a:xfrm>
          <a:prstGeom prst="rect">
            <a:avLst/>
          </a:prstGeom>
        </p:spPr>
      </p:pic>
      <p:sp>
        <p:nvSpPr>
          <p:cNvPr id="6" name="Rectangle: Rounded Corners 5">
            <a:extLst>
              <a:ext uri="{FF2B5EF4-FFF2-40B4-BE49-F238E27FC236}">
                <a16:creationId xmlns:a16="http://schemas.microsoft.com/office/drawing/2014/main" id="{3BF3FA15-EE86-F857-FFF0-933477FA3965}"/>
              </a:ext>
            </a:extLst>
          </p:cNvPr>
          <p:cNvSpPr/>
          <p:nvPr/>
        </p:nvSpPr>
        <p:spPr>
          <a:xfrm>
            <a:off x="3875915" y="4639292"/>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CDN</a:t>
            </a:r>
          </a:p>
        </p:txBody>
      </p:sp>
      <p:sp>
        <p:nvSpPr>
          <p:cNvPr id="7" name="Rectangle: Rounded Corners 6">
            <a:extLst>
              <a:ext uri="{FF2B5EF4-FFF2-40B4-BE49-F238E27FC236}">
                <a16:creationId xmlns:a16="http://schemas.microsoft.com/office/drawing/2014/main" id="{14456FCB-0E10-AC8F-2357-6A1AB8BA57F5}"/>
              </a:ext>
            </a:extLst>
          </p:cNvPr>
          <p:cNvSpPr/>
          <p:nvPr/>
        </p:nvSpPr>
        <p:spPr>
          <a:xfrm>
            <a:off x="978924" y="3216631"/>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Gateway</a:t>
            </a:r>
          </a:p>
        </p:txBody>
      </p:sp>
      <p:sp>
        <p:nvSpPr>
          <p:cNvPr id="8" name="Rectangle: Rounded Corners 7">
            <a:extLst>
              <a:ext uri="{FF2B5EF4-FFF2-40B4-BE49-F238E27FC236}">
                <a16:creationId xmlns:a16="http://schemas.microsoft.com/office/drawing/2014/main" id="{268612A7-3172-AB98-19CA-163ACEFC74E4}"/>
              </a:ext>
            </a:extLst>
          </p:cNvPr>
          <p:cNvSpPr/>
          <p:nvPr/>
        </p:nvSpPr>
        <p:spPr>
          <a:xfrm>
            <a:off x="3978185" y="5058278"/>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SSL</a:t>
            </a:r>
          </a:p>
        </p:txBody>
      </p:sp>
      <p:sp>
        <p:nvSpPr>
          <p:cNvPr id="10" name="Rectangle: Rounded Corners 9">
            <a:extLst>
              <a:ext uri="{FF2B5EF4-FFF2-40B4-BE49-F238E27FC236}">
                <a16:creationId xmlns:a16="http://schemas.microsoft.com/office/drawing/2014/main" id="{DDFDC534-41E9-3065-A4FE-089FECA2C2BF}"/>
              </a:ext>
            </a:extLst>
          </p:cNvPr>
          <p:cNvSpPr/>
          <p:nvPr/>
        </p:nvSpPr>
        <p:spPr>
          <a:xfrm>
            <a:off x="8176310" y="2577957"/>
            <a:ext cx="1080000" cy="3344280"/>
          </a:xfrm>
          <a:prstGeom prst="roundRect">
            <a:avLst/>
          </a:prstGeom>
        </p:spPr>
        <p:style>
          <a:lnRef idx="1">
            <a:schemeClr val="accent6"/>
          </a:lnRef>
          <a:fillRef idx="2">
            <a:schemeClr val="accent6"/>
          </a:fillRef>
          <a:effectRef idx="1">
            <a:schemeClr val="accent6"/>
          </a:effectRef>
          <a:fontRef idx="minor">
            <a:schemeClr val="dk1"/>
          </a:fontRef>
        </p:style>
        <p:txBody>
          <a:bodyPr lIns="0" tIns="0" rIns="0" bIns="0" rtlCol="0" anchor="b"/>
          <a:lstStyle/>
          <a:p>
            <a:pPr algn="ctr"/>
            <a:r>
              <a:rPr lang="en-AU" sz="1600" dirty="0"/>
              <a:t>Entra ID</a:t>
            </a:r>
          </a:p>
        </p:txBody>
      </p:sp>
      <p:cxnSp>
        <p:nvCxnSpPr>
          <p:cNvPr id="11" name="Straight Connector 10">
            <a:extLst>
              <a:ext uri="{FF2B5EF4-FFF2-40B4-BE49-F238E27FC236}">
                <a16:creationId xmlns:a16="http://schemas.microsoft.com/office/drawing/2014/main" id="{47412B42-B54B-D609-328F-BB255226655F}"/>
              </a:ext>
            </a:extLst>
          </p:cNvPr>
          <p:cNvCxnSpPr>
            <a:cxnSpLocks/>
            <a:stCxn id="5" idx="1"/>
            <a:endCxn id="23" idx="3"/>
          </p:cNvCxnSpPr>
          <p:nvPr/>
        </p:nvCxnSpPr>
        <p:spPr>
          <a:xfrm flipH="1">
            <a:off x="9256310" y="2838308"/>
            <a:ext cx="1857777" cy="175598"/>
          </a:xfrm>
          <a:prstGeom prst="line">
            <a:avLst/>
          </a:prstGeom>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99E211F1-31AA-AC8F-6D89-3B58FC4B714B}"/>
              </a:ext>
            </a:extLst>
          </p:cNvPr>
          <p:cNvSpPr/>
          <p:nvPr/>
        </p:nvSpPr>
        <p:spPr>
          <a:xfrm rot="21160059">
            <a:off x="9589695" y="2556931"/>
            <a:ext cx="1080000"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 Clickops / Terraform IaC</a:t>
            </a:r>
          </a:p>
        </p:txBody>
      </p:sp>
      <p:sp>
        <p:nvSpPr>
          <p:cNvPr id="15" name="Rectangle: Rounded Corners 14">
            <a:extLst>
              <a:ext uri="{FF2B5EF4-FFF2-40B4-BE49-F238E27FC236}">
                <a16:creationId xmlns:a16="http://schemas.microsoft.com/office/drawing/2014/main" id="{EAB71BB8-C6C3-92FA-5A82-59A13365CA03}"/>
              </a:ext>
            </a:extLst>
          </p:cNvPr>
          <p:cNvSpPr/>
          <p:nvPr/>
        </p:nvSpPr>
        <p:spPr>
          <a:xfrm>
            <a:off x="4524614" y="5062104"/>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Auth</a:t>
            </a:r>
          </a:p>
        </p:txBody>
      </p:sp>
      <p:sp>
        <p:nvSpPr>
          <p:cNvPr id="21" name="Rectangle: Rounded Corners 20">
            <a:extLst>
              <a:ext uri="{FF2B5EF4-FFF2-40B4-BE49-F238E27FC236}">
                <a16:creationId xmlns:a16="http://schemas.microsoft.com/office/drawing/2014/main" id="{52291606-DCAA-6EB0-0C3C-500E43A92E5A}"/>
              </a:ext>
            </a:extLst>
          </p:cNvPr>
          <p:cNvSpPr/>
          <p:nvPr/>
        </p:nvSpPr>
        <p:spPr>
          <a:xfrm>
            <a:off x="2516372" y="3108847"/>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Web Resources</a:t>
            </a:r>
          </a:p>
        </p:txBody>
      </p:sp>
      <p:sp>
        <p:nvSpPr>
          <p:cNvPr id="22" name="Rectangle: Rounded Corners 21">
            <a:extLst>
              <a:ext uri="{FF2B5EF4-FFF2-40B4-BE49-F238E27FC236}">
                <a16:creationId xmlns:a16="http://schemas.microsoft.com/office/drawing/2014/main" id="{EF9804AF-9D11-07CD-9872-02C38AF25DFA}"/>
              </a:ext>
            </a:extLst>
          </p:cNvPr>
          <p:cNvSpPr/>
          <p:nvPr/>
        </p:nvSpPr>
        <p:spPr>
          <a:xfrm>
            <a:off x="4217778" y="3216631"/>
            <a:ext cx="90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DB</a:t>
            </a:r>
          </a:p>
        </p:txBody>
      </p:sp>
      <p:sp>
        <p:nvSpPr>
          <p:cNvPr id="48" name="Rectangle: Rounded Corners 47">
            <a:extLst>
              <a:ext uri="{FF2B5EF4-FFF2-40B4-BE49-F238E27FC236}">
                <a16:creationId xmlns:a16="http://schemas.microsoft.com/office/drawing/2014/main" id="{23E83A2A-6010-E72C-EE6A-FB7DFDABEFA3}"/>
              </a:ext>
            </a:extLst>
          </p:cNvPr>
          <p:cNvSpPr/>
          <p:nvPr/>
        </p:nvSpPr>
        <p:spPr>
          <a:xfrm>
            <a:off x="2516372" y="3514602"/>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Functions</a:t>
            </a:r>
          </a:p>
        </p:txBody>
      </p:sp>
      <p:cxnSp>
        <p:nvCxnSpPr>
          <p:cNvPr id="50" name="Straight Connector 49">
            <a:extLst>
              <a:ext uri="{FF2B5EF4-FFF2-40B4-BE49-F238E27FC236}">
                <a16:creationId xmlns:a16="http://schemas.microsoft.com/office/drawing/2014/main" id="{CF0AE2DB-470D-6218-CD85-7CDEB897606D}"/>
              </a:ext>
            </a:extLst>
          </p:cNvPr>
          <p:cNvCxnSpPr>
            <a:cxnSpLocks/>
            <a:stCxn id="7" idx="3"/>
            <a:endCxn id="21" idx="1"/>
          </p:cNvCxnSpPr>
          <p:nvPr/>
        </p:nvCxnSpPr>
        <p:spPr>
          <a:xfrm flipV="1">
            <a:off x="2058924" y="3288847"/>
            <a:ext cx="457448" cy="197784"/>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AA03284-367E-37B5-E838-033E17DD3DF0}"/>
              </a:ext>
            </a:extLst>
          </p:cNvPr>
          <p:cNvCxnSpPr>
            <a:cxnSpLocks/>
            <a:stCxn id="7" idx="3"/>
            <a:endCxn id="48" idx="1"/>
          </p:cNvCxnSpPr>
          <p:nvPr/>
        </p:nvCxnSpPr>
        <p:spPr>
          <a:xfrm>
            <a:off x="2058924" y="3486631"/>
            <a:ext cx="457448"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83AD6B67-8C07-A0B7-D08C-DD9024DDBB82}"/>
              </a:ext>
            </a:extLst>
          </p:cNvPr>
          <p:cNvCxnSpPr>
            <a:cxnSpLocks/>
            <a:stCxn id="48" idx="3"/>
            <a:endCxn id="22" idx="1"/>
          </p:cNvCxnSpPr>
          <p:nvPr/>
        </p:nvCxnSpPr>
        <p:spPr>
          <a:xfrm flipV="1">
            <a:off x="3956372" y="3486631"/>
            <a:ext cx="261406" cy="207971"/>
          </a:xfrm>
          <a:prstGeom prst="line">
            <a:avLst/>
          </a:prstGeom>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6FD507AB-2E3D-2178-94AA-3F058D25251A}"/>
              </a:ext>
            </a:extLst>
          </p:cNvPr>
          <p:cNvSpPr/>
          <p:nvPr/>
        </p:nvSpPr>
        <p:spPr>
          <a:xfrm>
            <a:off x="10854112" y="2296874"/>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 Support</a:t>
            </a:r>
            <a:br>
              <a:rPr lang="en-AU" sz="1200" dirty="0"/>
            </a:br>
            <a:r>
              <a:rPr lang="en-AU" sz="1200" dirty="0"/>
              <a:t>Technician</a:t>
            </a:r>
          </a:p>
        </p:txBody>
      </p:sp>
      <p:sp>
        <p:nvSpPr>
          <p:cNvPr id="23" name="Rectangle: Rounded Corners 22">
            <a:extLst>
              <a:ext uri="{FF2B5EF4-FFF2-40B4-BE49-F238E27FC236}">
                <a16:creationId xmlns:a16="http://schemas.microsoft.com/office/drawing/2014/main" id="{552458F2-5BBD-63B4-211A-339F6524CB0F}"/>
              </a:ext>
            </a:extLst>
          </p:cNvPr>
          <p:cNvSpPr/>
          <p:nvPr/>
        </p:nvSpPr>
        <p:spPr>
          <a:xfrm>
            <a:off x="8176310" y="2743906"/>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Azure Console</a:t>
            </a:r>
          </a:p>
        </p:txBody>
      </p:sp>
      <p:sp>
        <p:nvSpPr>
          <p:cNvPr id="30" name="Rectangle: Rounded Corners 29">
            <a:extLst>
              <a:ext uri="{FF2B5EF4-FFF2-40B4-BE49-F238E27FC236}">
                <a16:creationId xmlns:a16="http://schemas.microsoft.com/office/drawing/2014/main" id="{0C500A3F-2ADD-02A3-7943-C16C39B58000}"/>
              </a:ext>
            </a:extLst>
          </p:cNvPr>
          <p:cNvSpPr/>
          <p:nvPr/>
        </p:nvSpPr>
        <p:spPr>
          <a:xfrm>
            <a:off x="8176310" y="413007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AWS Console</a:t>
            </a:r>
          </a:p>
        </p:txBody>
      </p:sp>
      <p:cxnSp>
        <p:nvCxnSpPr>
          <p:cNvPr id="33" name="Straight Connector 32">
            <a:extLst>
              <a:ext uri="{FF2B5EF4-FFF2-40B4-BE49-F238E27FC236}">
                <a16:creationId xmlns:a16="http://schemas.microsoft.com/office/drawing/2014/main" id="{0D4C7222-2D11-B119-ABF7-8F7E66B33CB9}"/>
              </a:ext>
            </a:extLst>
          </p:cNvPr>
          <p:cNvCxnSpPr>
            <a:cxnSpLocks/>
            <a:stCxn id="94" idx="1"/>
            <a:endCxn id="30" idx="3"/>
          </p:cNvCxnSpPr>
          <p:nvPr/>
        </p:nvCxnSpPr>
        <p:spPr>
          <a:xfrm flipH="1" flipV="1">
            <a:off x="9256310" y="4400074"/>
            <a:ext cx="1857777" cy="9650"/>
          </a:xfrm>
          <a:prstGeom prst="line">
            <a:avLst/>
          </a:prstGeom>
        </p:spPr>
        <p:style>
          <a:lnRef idx="2">
            <a:schemeClr val="accent1"/>
          </a:lnRef>
          <a:fillRef idx="0">
            <a:schemeClr val="accent1"/>
          </a:fillRef>
          <a:effectRef idx="1">
            <a:schemeClr val="accent1"/>
          </a:effectRef>
          <a:fontRef idx="minor">
            <a:schemeClr val="tx1"/>
          </a:fontRef>
        </p:style>
      </p:cxnSp>
      <p:sp>
        <p:nvSpPr>
          <p:cNvPr id="57" name="Rectangle 56">
            <a:extLst>
              <a:ext uri="{FF2B5EF4-FFF2-40B4-BE49-F238E27FC236}">
                <a16:creationId xmlns:a16="http://schemas.microsoft.com/office/drawing/2014/main" id="{2FBB2AFD-7AD6-F7FA-371F-1E0A0400449B}"/>
              </a:ext>
            </a:extLst>
          </p:cNvPr>
          <p:cNvSpPr/>
          <p:nvPr/>
        </p:nvSpPr>
        <p:spPr>
          <a:xfrm>
            <a:off x="8164387" y="3553906"/>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Privileged Account Authentication</a:t>
            </a:r>
          </a:p>
        </p:txBody>
      </p:sp>
      <p:cxnSp>
        <p:nvCxnSpPr>
          <p:cNvPr id="63" name="Straight Connector 62">
            <a:extLst>
              <a:ext uri="{FF2B5EF4-FFF2-40B4-BE49-F238E27FC236}">
                <a16:creationId xmlns:a16="http://schemas.microsoft.com/office/drawing/2014/main" id="{01477EBB-A7D4-D1E9-D547-1EABD2F03B2F}"/>
              </a:ext>
            </a:extLst>
          </p:cNvPr>
          <p:cNvCxnSpPr>
            <a:cxnSpLocks/>
            <a:stCxn id="23" idx="1"/>
            <a:endCxn id="24" idx="3"/>
          </p:cNvCxnSpPr>
          <p:nvPr/>
        </p:nvCxnSpPr>
        <p:spPr>
          <a:xfrm flipH="1">
            <a:off x="5288488" y="3013906"/>
            <a:ext cx="2887822" cy="416248"/>
          </a:xfrm>
          <a:prstGeom prst="line">
            <a:avLst/>
          </a:prstGeom>
        </p:spPr>
        <p:style>
          <a:lnRef idx="2">
            <a:schemeClr val="accent1"/>
          </a:lnRef>
          <a:fillRef idx="0">
            <a:schemeClr val="accent1"/>
          </a:fillRef>
          <a:effectRef idx="1">
            <a:schemeClr val="accent1"/>
          </a:effectRef>
          <a:fontRef idx="minor">
            <a:schemeClr val="tx1"/>
          </a:fontRef>
        </p:style>
      </p:cxnSp>
      <p:sp>
        <p:nvSpPr>
          <p:cNvPr id="68" name="Rectangle 67">
            <a:extLst>
              <a:ext uri="{FF2B5EF4-FFF2-40B4-BE49-F238E27FC236}">
                <a16:creationId xmlns:a16="http://schemas.microsoft.com/office/drawing/2014/main" id="{0110068E-C3EF-DC65-E3EA-13924B646288}"/>
              </a:ext>
            </a:extLst>
          </p:cNvPr>
          <p:cNvSpPr/>
          <p:nvPr/>
        </p:nvSpPr>
        <p:spPr>
          <a:xfrm>
            <a:off x="5555999" y="2928847"/>
            <a:ext cx="1870295" cy="121958"/>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 Resource group </a:t>
            </a:r>
            <a:br>
              <a:rPr lang="en-AU" sz="1200" dirty="0"/>
            </a:br>
            <a:r>
              <a:rPr lang="en-AU" sz="1200" dirty="0"/>
              <a:t>Admin PIM</a:t>
            </a:r>
          </a:p>
        </p:txBody>
      </p:sp>
      <p:cxnSp>
        <p:nvCxnSpPr>
          <p:cNvPr id="69" name="Straight Connector 68">
            <a:extLst>
              <a:ext uri="{FF2B5EF4-FFF2-40B4-BE49-F238E27FC236}">
                <a16:creationId xmlns:a16="http://schemas.microsoft.com/office/drawing/2014/main" id="{BF6AE54A-1863-EEA1-9FA1-9B1631A5E546}"/>
              </a:ext>
            </a:extLst>
          </p:cNvPr>
          <p:cNvCxnSpPr>
            <a:cxnSpLocks/>
            <a:stCxn id="30" idx="1"/>
            <a:endCxn id="6" idx="3"/>
          </p:cNvCxnSpPr>
          <p:nvPr/>
        </p:nvCxnSpPr>
        <p:spPr>
          <a:xfrm flipH="1">
            <a:off x="4955915" y="4400074"/>
            <a:ext cx="3220395" cy="509218"/>
          </a:xfrm>
          <a:prstGeom prst="line">
            <a:avLst/>
          </a:prstGeom>
        </p:spPr>
        <p:style>
          <a:lnRef idx="2">
            <a:schemeClr val="accent1"/>
          </a:lnRef>
          <a:fillRef idx="0">
            <a:schemeClr val="accent1"/>
          </a:fillRef>
          <a:effectRef idx="1">
            <a:schemeClr val="accent1"/>
          </a:effectRef>
          <a:fontRef idx="minor">
            <a:schemeClr val="tx1"/>
          </a:fontRef>
        </p:style>
      </p:cxnSp>
      <p:sp>
        <p:nvSpPr>
          <p:cNvPr id="73" name="Rectangle 72">
            <a:extLst>
              <a:ext uri="{FF2B5EF4-FFF2-40B4-BE49-F238E27FC236}">
                <a16:creationId xmlns:a16="http://schemas.microsoft.com/office/drawing/2014/main" id="{F97A0D2F-5C9D-B67B-D9A8-E822BB4EFB10}"/>
              </a:ext>
            </a:extLst>
          </p:cNvPr>
          <p:cNvSpPr/>
          <p:nvPr/>
        </p:nvSpPr>
        <p:spPr>
          <a:xfrm>
            <a:off x="7135175" y="4166959"/>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Global Admin Role</a:t>
            </a:r>
          </a:p>
        </p:txBody>
      </p:sp>
      <p:sp>
        <p:nvSpPr>
          <p:cNvPr id="77" name="Rectangle: Rounded Corners 76">
            <a:extLst>
              <a:ext uri="{FF2B5EF4-FFF2-40B4-BE49-F238E27FC236}">
                <a16:creationId xmlns:a16="http://schemas.microsoft.com/office/drawing/2014/main" id="{00812520-92A2-9790-6C93-68AC53242D45}"/>
              </a:ext>
            </a:extLst>
          </p:cNvPr>
          <p:cNvSpPr/>
          <p:nvPr/>
        </p:nvSpPr>
        <p:spPr>
          <a:xfrm>
            <a:off x="8176310" y="479210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GitHub Actions</a:t>
            </a:r>
          </a:p>
        </p:txBody>
      </p:sp>
      <p:cxnSp>
        <p:nvCxnSpPr>
          <p:cNvPr id="78" name="Straight Connector 77">
            <a:extLst>
              <a:ext uri="{FF2B5EF4-FFF2-40B4-BE49-F238E27FC236}">
                <a16:creationId xmlns:a16="http://schemas.microsoft.com/office/drawing/2014/main" id="{938E9876-1803-433F-1919-6E2BED81FDF1}"/>
              </a:ext>
            </a:extLst>
          </p:cNvPr>
          <p:cNvCxnSpPr>
            <a:cxnSpLocks/>
            <a:stCxn id="94" idx="1"/>
            <a:endCxn id="77" idx="3"/>
          </p:cNvCxnSpPr>
          <p:nvPr/>
        </p:nvCxnSpPr>
        <p:spPr>
          <a:xfrm flipH="1">
            <a:off x="9256310" y="4409724"/>
            <a:ext cx="1857777" cy="652380"/>
          </a:xfrm>
          <a:prstGeom prst="line">
            <a:avLst/>
          </a:prstGeom>
        </p:spPr>
        <p:style>
          <a:lnRef idx="2">
            <a:schemeClr val="accent5"/>
          </a:lnRef>
          <a:fillRef idx="0">
            <a:schemeClr val="accent5"/>
          </a:fillRef>
          <a:effectRef idx="1">
            <a:schemeClr val="accent5"/>
          </a:effectRef>
          <a:fontRef idx="minor">
            <a:schemeClr val="tx1"/>
          </a:fontRef>
        </p:style>
      </p:cxnSp>
      <p:cxnSp>
        <p:nvCxnSpPr>
          <p:cNvPr id="82" name="Straight Connector 81">
            <a:extLst>
              <a:ext uri="{FF2B5EF4-FFF2-40B4-BE49-F238E27FC236}">
                <a16:creationId xmlns:a16="http://schemas.microsoft.com/office/drawing/2014/main" id="{A1BA5F53-A586-A6BA-7132-A20F24D8DEB2}"/>
              </a:ext>
            </a:extLst>
          </p:cNvPr>
          <p:cNvCxnSpPr>
            <a:cxnSpLocks/>
            <a:stCxn id="77" idx="1"/>
            <a:endCxn id="6" idx="3"/>
          </p:cNvCxnSpPr>
          <p:nvPr/>
        </p:nvCxnSpPr>
        <p:spPr>
          <a:xfrm flipH="1" flipV="1">
            <a:off x="4955915" y="4909292"/>
            <a:ext cx="3220395" cy="152812"/>
          </a:xfrm>
          <a:prstGeom prst="line">
            <a:avLst/>
          </a:prstGeom>
        </p:spPr>
        <p:style>
          <a:lnRef idx="2">
            <a:schemeClr val="accent5"/>
          </a:lnRef>
          <a:fillRef idx="0">
            <a:schemeClr val="accent5"/>
          </a:fillRef>
          <a:effectRef idx="1">
            <a:schemeClr val="accent5"/>
          </a:effectRef>
          <a:fontRef idx="minor">
            <a:schemeClr val="tx1"/>
          </a:fontRef>
        </p:style>
      </p:cxnSp>
      <p:cxnSp>
        <p:nvCxnSpPr>
          <p:cNvPr id="85" name="Straight Connector 84">
            <a:extLst>
              <a:ext uri="{FF2B5EF4-FFF2-40B4-BE49-F238E27FC236}">
                <a16:creationId xmlns:a16="http://schemas.microsoft.com/office/drawing/2014/main" id="{3F3061F4-B646-42F3-C36B-94C9100D08DD}"/>
              </a:ext>
            </a:extLst>
          </p:cNvPr>
          <p:cNvCxnSpPr>
            <a:cxnSpLocks/>
            <a:stCxn id="77" idx="1"/>
            <a:endCxn id="24" idx="3"/>
          </p:cNvCxnSpPr>
          <p:nvPr/>
        </p:nvCxnSpPr>
        <p:spPr>
          <a:xfrm flipH="1" flipV="1">
            <a:off x="5288488" y="3430154"/>
            <a:ext cx="2887822" cy="1631950"/>
          </a:xfrm>
          <a:prstGeom prst="line">
            <a:avLst/>
          </a:prstGeom>
        </p:spPr>
        <p:style>
          <a:lnRef idx="2">
            <a:schemeClr val="accent5"/>
          </a:lnRef>
          <a:fillRef idx="0">
            <a:schemeClr val="accent5"/>
          </a:fillRef>
          <a:effectRef idx="1">
            <a:schemeClr val="accent5"/>
          </a:effectRef>
          <a:fontRef idx="minor">
            <a:schemeClr val="tx1"/>
          </a:fontRef>
        </p:style>
      </p:cxnSp>
      <p:sp>
        <p:nvSpPr>
          <p:cNvPr id="88" name="Rectangle 87">
            <a:extLst>
              <a:ext uri="{FF2B5EF4-FFF2-40B4-BE49-F238E27FC236}">
                <a16:creationId xmlns:a16="http://schemas.microsoft.com/office/drawing/2014/main" id="{EA61C062-EBB0-E08B-8328-F0FEC30B5A0F}"/>
              </a:ext>
            </a:extLst>
          </p:cNvPr>
          <p:cNvSpPr/>
          <p:nvPr/>
        </p:nvSpPr>
        <p:spPr>
          <a:xfrm>
            <a:off x="7079207" y="5355550"/>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Service Principal with Global Admin Role</a:t>
            </a:r>
          </a:p>
        </p:txBody>
      </p:sp>
      <p:sp>
        <p:nvSpPr>
          <p:cNvPr id="89" name="Rectangle 88">
            <a:extLst>
              <a:ext uri="{FF2B5EF4-FFF2-40B4-BE49-F238E27FC236}">
                <a16:creationId xmlns:a16="http://schemas.microsoft.com/office/drawing/2014/main" id="{D380A006-C84D-72A5-587B-65DD163BF022}"/>
              </a:ext>
            </a:extLst>
          </p:cNvPr>
          <p:cNvSpPr/>
          <p:nvPr/>
        </p:nvSpPr>
        <p:spPr>
          <a:xfrm>
            <a:off x="9796310" y="4835193"/>
            <a:ext cx="1080000"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Automated </a:t>
            </a:r>
          </a:p>
          <a:p>
            <a:pPr algn="ctr"/>
            <a:r>
              <a:rPr lang="en-AU" sz="1200" dirty="0"/>
              <a:t>Deployment</a:t>
            </a:r>
          </a:p>
        </p:txBody>
      </p:sp>
      <p:pic>
        <p:nvPicPr>
          <p:cNvPr id="94" name="Graphic 93" descr="User with solid fill">
            <a:extLst>
              <a:ext uri="{FF2B5EF4-FFF2-40B4-BE49-F238E27FC236}">
                <a16:creationId xmlns:a16="http://schemas.microsoft.com/office/drawing/2014/main" id="{15765D76-6754-78C4-2AA2-6D96E3227F05}"/>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11114087" y="4149373"/>
            <a:ext cx="479426" cy="520701"/>
          </a:xfrm>
          <a:prstGeom prst="rect">
            <a:avLst/>
          </a:prstGeom>
        </p:spPr>
      </p:pic>
      <p:sp>
        <p:nvSpPr>
          <p:cNvPr id="95" name="Rectangle 94">
            <a:extLst>
              <a:ext uri="{FF2B5EF4-FFF2-40B4-BE49-F238E27FC236}">
                <a16:creationId xmlns:a16="http://schemas.microsoft.com/office/drawing/2014/main" id="{BAD67DBE-B99C-F446-D3E6-8C9ED5C5B4A7}"/>
              </a:ext>
            </a:extLst>
          </p:cNvPr>
          <p:cNvSpPr/>
          <p:nvPr/>
        </p:nvSpPr>
        <p:spPr>
          <a:xfrm>
            <a:off x="10854112" y="3868290"/>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Org Admin Technician</a:t>
            </a:r>
          </a:p>
        </p:txBody>
      </p:sp>
      <p:sp>
        <p:nvSpPr>
          <p:cNvPr id="101" name="Rectangle 100">
            <a:extLst>
              <a:ext uri="{FF2B5EF4-FFF2-40B4-BE49-F238E27FC236}">
                <a16:creationId xmlns:a16="http://schemas.microsoft.com/office/drawing/2014/main" id="{F37DAF49-DB4D-999C-5127-5947DB36877C}"/>
              </a:ext>
            </a:extLst>
          </p:cNvPr>
          <p:cNvSpPr/>
          <p:nvPr/>
        </p:nvSpPr>
        <p:spPr>
          <a:xfrm>
            <a:off x="9606291" y="4017694"/>
            <a:ext cx="1080000"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Global Clickops / Terraform IaC</a:t>
            </a:r>
          </a:p>
        </p:txBody>
      </p:sp>
    </p:spTree>
    <p:extLst>
      <p:ext uri="{BB962C8B-B14F-4D97-AF65-F5344CB8AC3E}">
        <p14:creationId xmlns:p14="http://schemas.microsoft.com/office/powerpoint/2010/main" val="39652496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3592</TotalTime>
  <Words>335</Words>
  <Application>Microsoft Office PowerPoint</Application>
  <PresentationFormat>Widescreen</PresentationFormat>
  <Paragraphs>72</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Zenblox Opensource</vt:lpstr>
      <vt:lpstr>Zen Installer</vt:lpstr>
      <vt:lpstr>App Authentication Architecture</vt:lpstr>
      <vt:lpstr>Support Architecture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Vosloo</dc:creator>
  <cp:lastModifiedBy>Jake Vosloo</cp:lastModifiedBy>
  <cp:revision>3</cp:revision>
  <dcterms:created xsi:type="dcterms:W3CDTF">2026-08-13T22:53:17Z</dcterms:created>
  <dcterms:modified xsi:type="dcterms:W3CDTF">2026-08-16T10:45:33Z</dcterms:modified>
</cp:coreProperties>
</file>